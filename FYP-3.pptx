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60" r:id="rId3"/>
    <p:sldId id="265" r:id="rId4"/>
    <p:sldId id="264" r:id="rId5"/>
    <p:sldId id="274" r:id="rId6"/>
    <p:sldId id="275" r:id="rId7"/>
    <p:sldId id="276" r:id="rId8"/>
    <p:sldId id="266" r:id="rId9"/>
    <p:sldId id="267" r:id="rId10"/>
    <p:sldId id="268" r:id="rId11"/>
    <p:sldId id="277" r:id="rId12"/>
    <p:sldId id="278" r:id="rId13"/>
    <p:sldId id="279" r:id="rId14"/>
    <p:sldId id="280" r:id="rId15"/>
    <p:sldId id="281" r:id="rId16"/>
    <p:sldId id="269" r:id="rId17"/>
    <p:sldId id="282" r:id="rId18"/>
    <p:sldId id="270" r:id="rId19"/>
    <p:sldId id="272" r:id="rId20"/>
    <p:sldId id="283" r:id="rId21"/>
    <p:sldId id="271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AF464A-97B4-408D-96E0-22CB93303A90}" v="1058" dt="2025-10-13T16:08:12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69A62-F9A8-42DF-978E-7E049F34F54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97215-CBC4-452A-9484-3082382DA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3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97215-CBC4-452A-9484-3082382DABA0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086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16FC-EB2E-499D-8556-9AD129B5A9F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77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D64C3-1E6E-4004-90E9-2C8A1C98BBBA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23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E061-68C5-48D2-9284-B033805C0F4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066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611E-2CCF-4FB3-9F7C-F8F7862ECA63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80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955C-9A3C-4F1E-9AA0-7B3A621FF482}" type="datetime1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62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1BA6-5F8E-4328-92D1-0E8A3FA79496}" type="datetime1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64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97DA-73BF-4967-9020-3389DA6FCA48}" type="datetime1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90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0677F69-E5EC-4170-A4B7-F91A28CC0734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79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AE14A-7D01-423B-BD19-6034BC093055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3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DC74-562D-470A-B0CA-80F399560DAD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61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D5C6-20C3-42AB-9E9B-7BB8CA65663B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45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7F50A-468B-4163-887B-50F33DEC90C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2978B9-E6D3-4D3F-A408-ABA812CE13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1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leyindia.com/Instructor_Resources/9789357468558/Fairs_and_Festivals_of_India.pdf" TargetMode="External"/><Relationship Id="rId2" Type="http://schemas.openxmlformats.org/officeDocument/2006/relationships/hyperlink" Target="https://indiancentury.com/pdfs/FESTIVALS-OF-INDIA.pdf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334E-EDA5-E83E-831F-B04D7EFCD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84" y="4209089"/>
            <a:ext cx="3721608" cy="1666239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Dharani S – 2022103034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Swastika S R – 2022103569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Shunmathi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– 2022103570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Raseena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Thasneem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– 2022103576</a:t>
            </a:r>
          </a:p>
          <a:p>
            <a:pPr algn="ctr">
              <a:spcAft>
                <a:spcPts val="0"/>
              </a:spcAft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E2AB9F-E7AB-1385-A512-639BF674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TaleToon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Transforming Cultural Significance into Narrative Visualizations through Comics using Multi modal Deep learning techniques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112EE6-D00B-BF32-BF51-C36B1D2E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57C59-D5CE-1710-98CF-CAEC5BFEEB84}"/>
              </a:ext>
            </a:extLst>
          </p:cNvPr>
          <p:cNvSpPr txBox="1"/>
          <p:nvPr/>
        </p:nvSpPr>
        <p:spPr>
          <a:xfrm>
            <a:off x="430738" y="4367223"/>
            <a:ext cx="398678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GUIDE: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M.S. Karthika Devi,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(Sr. Gr.),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DCSE, Anna University.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177CB-6779-5590-BBCF-D73DFF136A00}"/>
              </a:ext>
            </a:extLst>
          </p:cNvPr>
          <p:cNvSpPr txBox="1"/>
          <p:nvPr/>
        </p:nvSpPr>
        <p:spPr>
          <a:xfrm>
            <a:off x="4059936" y="2039112"/>
            <a:ext cx="3785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Project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Zeroth Review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 23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B4596-8F10-DCC2-C6B1-7E1B3744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41C5-5E3D-48CF-9A1C-AF566418110E}" type="datetime1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C74F0-C183-D723-4411-CD062B388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TaleToon</a:t>
            </a:r>
            <a:r>
              <a:rPr lang="en-US" dirty="0">
                <a:solidFill>
                  <a:schemeClr val="bg1"/>
                </a:solidFill>
              </a:rPr>
              <a:t>: Transforming Cultural Significance into Narrative Visualizations through Comics using Multi modal Deep learning techniques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3D9F3C-6DB0-6BEA-A894-807B0D396847}"/>
              </a:ext>
            </a:extLst>
          </p:cNvPr>
          <p:cNvSpPr/>
          <p:nvPr/>
        </p:nvSpPr>
        <p:spPr>
          <a:xfrm>
            <a:off x="5977217" y="3244334"/>
            <a:ext cx="6912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5CC7E-6043-9FA6-B4E7-D7C22E1CF612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567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2F74-A7DF-0AF7-0478-FA0F667D6A29}"/>
              </a:ext>
            </a:extLst>
          </p:cNvPr>
          <p:cNvSpPr txBox="1"/>
          <p:nvPr/>
        </p:nvSpPr>
        <p:spPr>
          <a:xfrm>
            <a:off x="355601" y="261788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69198-75DC-88CD-367A-0721E4BE05D6}"/>
              </a:ext>
            </a:extLst>
          </p:cNvPr>
          <p:cNvSpPr txBox="1"/>
          <p:nvPr/>
        </p:nvSpPr>
        <p:spPr>
          <a:xfrm>
            <a:off x="474134" y="1199212"/>
            <a:ext cx="72008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today has undergone significant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technology and creativity to enhance learning.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these advances,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of cultural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remains confined to traditional methods that fail to truly engage learners.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to be guided through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humanistic and value oriented principles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nurture their moral, emotional, and cultural growth.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Storytelling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always been an effective tool in education, allowing learners to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emotionally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internalize lessons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empathy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engaging narratives.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various mediums,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 as 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fusion of art and text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complex cultural traditions into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captivating visual stories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educate while entertaining.</a:t>
            </a:r>
          </a:p>
        </p:txBody>
      </p:sp>
      <p:pic>
        <p:nvPicPr>
          <p:cNvPr id="3074" name="Picture 2" descr="Dadaji And Holi - Champak Magazine">
            <a:extLst>
              <a:ext uri="{FF2B5EF4-FFF2-40B4-BE49-F238E27FC236}">
                <a16:creationId xmlns:a16="http://schemas.microsoft.com/office/drawing/2014/main" id="{CDCFBCD8-89D1-611A-DAA7-22CB9CD4A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598" y="863451"/>
            <a:ext cx="3879267" cy="50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FD2930-B657-9944-E191-04C9F399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2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04DE9-A685-29D9-D99F-9CBA7763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104C7-4005-4C31-9574-5E145EBFE3D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D40D-0ED1-6CB4-B37D-F69421A2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TaleToon</a:t>
            </a:r>
            <a:r>
              <a:rPr lang="en-US" dirty="0"/>
              <a:t>: Transforming Cultural Significance into Narrative Visualizations through Comics using Multi modal Deep learning techniques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69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5F67-6D0C-E5E1-2C72-65C838BC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44BD76-49D3-792D-2AE7-8D57B3FA4E0D}"/>
              </a:ext>
            </a:extLst>
          </p:cNvPr>
          <p:cNvSpPr txBox="1"/>
          <p:nvPr/>
        </p:nvSpPr>
        <p:spPr>
          <a:xfrm>
            <a:off x="304800" y="124024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69648-320B-F2A5-EF5A-C4F89A75B71E}"/>
              </a:ext>
            </a:extLst>
          </p:cNvPr>
          <p:cNvSpPr txBox="1"/>
          <p:nvPr/>
        </p:nvSpPr>
        <p:spPr>
          <a:xfrm>
            <a:off x="304800" y="831910"/>
            <a:ext cx="11358880" cy="224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Objective:</a:t>
            </a: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our proposed system,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TaleToon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design an AI-driven storytelling framework that converts culturally significant information, specifically Indian festivals, into engaging comic-style narratives for younger audiences.</a:t>
            </a:r>
          </a:p>
          <a:p>
            <a:pPr marL="285750" indent="-285750"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176FFE-8318-FDB5-21CB-777964D6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3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F0EC7-277B-D80A-10E5-AD01D792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735C-D53A-46BC-A5EC-67225C09D474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9A4D3-AE80-1A5C-9849-4B23E7D1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1026" name="Picture 2" descr="Objective Icons - Free SVG &amp; PNG ...">
            <a:extLst>
              <a:ext uri="{FF2B5EF4-FFF2-40B4-BE49-F238E27FC236}">
                <a16:creationId xmlns:a16="http://schemas.microsoft.com/office/drawing/2014/main" id="{94B95CD5-2A4B-7B9A-2448-25638536B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" y="2646426"/>
            <a:ext cx="211836" cy="21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A8C6E2-828B-076F-4BE7-90C82A4EF9AF}"/>
              </a:ext>
            </a:extLst>
          </p:cNvPr>
          <p:cNvSpPr txBox="1"/>
          <p:nvPr/>
        </p:nvSpPr>
        <p:spPr>
          <a:xfrm>
            <a:off x="612648" y="2578608"/>
            <a:ext cx="11051032" cy="3538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culturally relevant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curated datasets, ensuring authenticity, contextual accuracy, and       cultural representation.</a:t>
            </a: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and refine factual content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structured narrative scenes with emotions, dialogues, and cultural symbolism.</a:t>
            </a: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comic panels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narrative text by </a:t>
            </a:r>
            <a:r>
              <a:rPr lang="en-US" dirty="0"/>
              <a:t>implementing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text-to-image generation models and techniques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visual consistency and cultural elements.</a:t>
            </a: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comic layouts and integrate dialogues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coherent storytelling flow and visually suitable presentation.</a:t>
            </a: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60"/>
              </a:spcBef>
              <a:spcAft>
                <a:spcPts val="6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cultural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interactive, visually appealing storytelling that engages and educates learners of all ages.</a:t>
            </a:r>
          </a:p>
        </p:txBody>
      </p:sp>
      <p:pic>
        <p:nvPicPr>
          <p:cNvPr id="8" name="Picture 2" descr="Objective Icons - Free SVG &amp; PNG ...">
            <a:extLst>
              <a:ext uri="{FF2B5EF4-FFF2-40B4-BE49-F238E27FC236}">
                <a16:creationId xmlns:a16="http://schemas.microsoft.com/office/drawing/2014/main" id="{2BA3BAA2-5A7D-73E3-A359-C7D01D1C6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" y="3429000"/>
            <a:ext cx="211836" cy="21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Objective Icons - Free SVG &amp; PNG ...">
            <a:extLst>
              <a:ext uri="{FF2B5EF4-FFF2-40B4-BE49-F238E27FC236}">
                <a16:creationId xmlns:a16="http://schemas.microsoft.com/office/drawing/2014/main" id="{074B24EC-3E4A-C07B-F668-DCFDF1355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" y="4204693"/>
            <a:ext cx="211836" cy="21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Objective Icons - Free SVG &amp; PNG ...">
            <a:extLst>
              <a:ext uri="{FF2B5EF4-FFF2-40B4-BE49-F238E27FC236}">
                <a16:creationId xmlns:a16="http://schemas.microsoft.com/office/drawing/2014/main" id="{ECFAA39A-12A0-7DBA-5A98-D460CB6F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" y="5004008"/>
            <a:ext cx="211836" cy="21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Objective Icons - Free SVG &amp; PNG ...">
            <a:extLst>
              <a:ext uri="{FF2B5EF4-FFF2-40B4-BE49-F238E27FC236}">
                <a16:creationId xmlns:a16="http://schemas.microsoft.com/office/drawing/2014/main" id="{DA54A36D-A153-55BA-6265-3DEFAA7D9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" y="5560510"/>
            <a:ext cx="211836" cy="21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919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BF11-E8DD-B319-B551-DBD5B9C4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FE4563-A1B4-76D4-2C60-280A924768B5}"/>
              </a:ext>
            </a:extLst>
          </p:cNvPr>
          <p:cNvSpPr txBox="1"/>
          <p:nvPr/>
        </p:nvSpPr>
        <p:spPr>
          <a:xfrm>
            <a:off x="189654" y="159172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A63DF-C72D-DB6D-3BA3-F2014521B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759406"/>
              </p:ext>
            </p:extLst>
          </p:nvPr>
        </p:nvGraphicFramePr>
        <p:xfrm>
          <a:off x="294640" y="953346"/>
          <a:ext cx="11592561" cy="438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4187">
                  <a:extLst>
                    <a:ext uri="{9D8B030D-6E8A-4147-A177-3AD203B41FA5}">
                      <a16:colId xmlns:a16="http://schemas.microsoft.com/office/drawing/2014/main" val="2053308053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3808679165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614201725"/>
                    </a:ext>
                  </a:extLst>
                </a:gridCol>
              </a:tblGrid>
              <a:tr h="47050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APPROACHES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231732"/>
                  </a:ext>
                </a:extLst>
              </a:tr>
              <a:tr h="1813125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Consistent Story-to-Comic Generation via Character Clustering </a:t>
                      </a:r>
                      <a:r>
                        <a:rPr lang="en-US" i="1" dirty="0"/>
                        <a:t>Source: ACM SIGGRAPH, 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Consistency-preserving pipeline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Multi-stage diffusion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DINO-based clustering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Visual coherence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Lacks cultural adaptability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Limited textual grounding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Dataset not domain-specific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244031"/>
                  </a:ext>
                </a:extLst>
              </a:tr>
              <a:tr h="209440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Content-Aware Video2Comics with Manga-Style Layout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Source: IEEE Transactions on Multimedia, Vol. 17, No. 12, Dec 2015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Keyframe/speaker extraction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Identifies narrative moments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Content-Aware Optimization (MCMC-based)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Applies manga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Frame selection accuracy relies on reliable speaker detection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Balloon placement can overlap or misalign with visual elements.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Computationally expensive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58772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23B2A-95EC-AC9B-0520-E266CD1B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4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357AB-B040-2E64-5107-80B35D15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ECD5-4B2F-471E-938D-20CF2C2A0365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B1886-8E80-7CB3-478E-A76A9798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89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C070-9F7B-CDD7-26DE-FFE6085F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19D5E4-4FC7-2C39-0073-2067F9F710BC}"/>
              </a:ext>
            </a:extLst>
          </p:cNvPr>
          <p:cNvSpPr txBox="1"/>
          <p:nvPr/>
        </p:nvSpPr>
        <p:spPr>
          <a:xfrm>
            <a:off x="189654" y="159172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C6C2C6-17C4-87C1-2D72-E76C46F64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780837"/>
              </p:ext>
            </p:extLst>
          </p:nvPr>
        </p:nvGraphicFramePr>
        <p:xfrm>
          <a:off x="294640" y="953346"/>
          <a:ext cx="11592561" cy="478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4187">
                  <a:extLst>
                    <a:ext uri="{9D8B030D-6E8A-4147-A177-3AD203B41FA5}">
                      <a16:colId xmlns:a16="http://schemas.microsoft.com/office/drawing/2014/main" val="2053308053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3808679165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614201725"/>
                    </a:ext>
                  </a:extLst>
                </a:gridCol>
              </a:tblGrid>
              <a:tr h="4574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APPROACHES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231732"/>
                  </a:ext>
                </a:extLst>
              </a:tr>
              <a:tr h="1806272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A Study on Automatic Generation of Comic Strips from a Scenario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Source: Springer HIMI, 2017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Extracts scenario data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Maps onto templates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Uses heuristic rules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Dialogue/visual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Requires manual adjustment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Limited scalability and diversity of panel designs.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Lacks adaptive learning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244031"/>
                  </a:ext>
                </a:extLst>
              </a:tr>
              <a:tr h="600953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From IVAs to Comics: Generating Comic Strips from Emergent Stories with Autonomous Characters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Source: Springer IVA, 2007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Converts IVA logs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Maps action/emotion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Rule-based layout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Arranges sequential panels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Scene segmentation and emotion tagging often produce inconsistent results.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Limited visual consistency between panels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Requires predefined mappings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58772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369AED-424B-4C10-3440-96DD7F27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5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EF952-08B1-58AB-ACC9-DA5AA30D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5F01-3FCD-4A01-9342-80D07A8FB2C9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32141-C4BD-2DB4-DE85-15D8DE76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1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7F13-AC98-A5ED-0D15-34EF664C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CBE6C4-FBC4-B04E-EC8E-4730084AED16}"/>
              </a:ext>
            </a:extLst>
          </p:cNvPr>
          <p:cNvSpPr txBox="1"/>
          <p:nvPr/>
        </p:nvSpPr>
        <p:spPr>
          <a:xfrm>
            <a:off x="189654" y="159172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422505-C816-6B34-04FD-73DC8B308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521965"/>
              </p:ext>
            </p:extLst>
          </p:nvPr>
        </p:nvGraphicFramePr>
        <p:xfrm>
          <a:off x="294640" y="953346"/>
          <a:ext cx="11592561" cy="4792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4187">
                  <a:extLst>
                    <a:ext uri="{9D8B030D-6E8A-4147-A177-3AD203B41FA5}">
                      <a16:colId xmlns:a16="http://schemas.microsoft.com/office/drawing/2014/main" val="2053308053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3808679165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614201725"/>
                    </a:ext>
                  </a:extLst>
                </a:gridCol>
              </a:tblGrid>
              <a:tr h="4574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APPROACHES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231732"/>
                  </a:ext>
                </a:extLst>
              </a:tr>
              <a:tr h="1817043">
                <a:tc>
                  <a:txBody>
                    <a:bodyPr/>
                    <a:lstStyle/>
                    <a:p>
                      <a:pPr algn="just"/>
                      <a:r>
                        <a:rPr lang="en-US" b="1" dirty="0" err="1"/>
                        <a:t>CodeToon</a:t>
                      </a:r>
                      <a:r>
                        <a:rPr lang="en-US" b="1" dirty="0"/>
                        <a:t>: Story Ideation, Auto Comic Generation, and Structure Mapping for Code-Driven Storytelling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Source: ACM UIST, 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Uses structure mapping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Integrated story to visual pipeline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Hybrid rule/generative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Automates comic/dialogue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Rule-based mapping limits flexibility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Maintaining visual coherence is challenging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Requires human supervision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244031"/>
                  </a:ext>
                </a:extLst>
              </a:tr>
              <a:tr h="600953">
                <a:tc>
                  <a:txBody>
                    <a:bodyPr/>
                    <a:lstStyle/>
                    <a:p>
                      <a:pPr algn="just"/>
                      <a:r>
                        <a:rPr lang="en-US" b="1" dirty="0" err="1"/>
                        <a:t>ComicGAN</a:t>
                      </a:r>
                      <a:r>
                        <a:rPr lang="en-US" b="1" dirty="0"/>
                        <a:t> / Comic-focused </a:t>
                      </a:r>
                      <a:r>
                        <a:rPr lang="en-US" b="1" dirty="0" err="1"/>
                        <a:t>Text→Image</a:t>
                      </a:r>
                      <a:r>
                        <a:rPr lang="en-US" b="1" dirty="0"/>
                        <a:t> GAN Works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Source: Pre-print (</a:t>
                      </a:r>
                      <a:r>
                        <a:rPr lang="en-US" i="1" dirty="0" err="1"/>
                        <a:t>arXiv</a:t>
                      </a:r>
                      <a:r>
                        <a:rPr lang="en-US" i="1" dirty="0"/>
                        <a:t>): [arxiv.org/abs/2109.09120]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GAN-based pipelines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Text-to-comic images and feasibility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Stylization cues and panel aware 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/>
                        <a:t>Underdeveloped Comic evaluation metrics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Maintaining visual consistency across panels is challenging.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Outputs often lack fine-grained cultural context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58772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809E9-47ED-E976-B146-01F984B2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6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1751-6E56-0B7D-789D-AFA98FBF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185C-DAF9-4D1B-AFC5-2048C0CA2C1E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F40BA-F6B0-6727-DEF0-181DC6C7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98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1AE5-F003-EC46-2F18-A027E722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019933-5D6C-DDC6-9DB4-CE9044AF9A97}"/>
              </a:ext>
            </a:extLst>
          </p:cNvPr>
          <p:cNvSpPr txBox="1"/>
          <p:nvPr/>
        </p:nvSpPr>
        <p:spPr>
          <a:xfrm>
            <a:off x="189654" y="159172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326F04-D220-AD55-7FFB-7402E946B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869275"/>
              </p:ext>
            </p:extLst>
          </p:nvPr>
        </p:nvGraphicFramePr>
        <p:xfrm>
          <a:off x="294640" y="953346"/>
          <a:ext cx="11592561" cy="2563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4187">
                  <a:extLst>
                    <a:ext uri="{9D8B030D-6E8A-4147-A177-3AD203B41FA5}">
                      <a16:colId xmlns:a16="http://schemas.microsoft.com/office/drawing/2014/main" val="2053308053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3808679165"/>
                    </a:ext>
                  </a:extLst>
                </a:gridCol>
                <a:gridCol w="3864187">
                  <a:extLst>
                    <a:ext uri="{9D8B030D-6E8A-4147-A177-3AD203B41FA5}">
                      <a16:colId xmlns:a16="http://schemas.microsoft.com/office/drawing/2014/main" val="614201725"/>
                    </a:ext>
                  </a:extLst>
                </a:gridCol>
              </a:tblGrid>
              <a:tr h="4574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APPROACHES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231732"/>
                  </a:ext>
                </a:extLst>
              </a:tr>
              <a:tr h="1415512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Automatic Comic Generation from Videos / Multi-Page Comic Generation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Source: ACM / IEEE Works (e.g., ACM Transactions on Multimedia, 2021)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Extracts video story beats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Converts to multi-page comics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End-to-end pipelines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Scene segmentation and visual summarization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Perform poorly on cultural-context interpretation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Limited scalability for textual datasets or culturally diverse stories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2440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FE1B2-566A-41BA-318D-9DFA9637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7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7331F-80BD-FA35-DBE7-632AEB9D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9ACB-8050-49DA-AC0C-A6AFF66F41C1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F6A7A-25FA-C71C-4968-2C7696D6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35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606E-70D0-B07B-77A4-F17C04AC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D59CA-9A6A-06F8-6E1D-B93D6B8F03B6}"/>
              </a:ext>
            </a:extLst>
          </p:cNvPr>
          <p:cNvSpPr txBox="1"/>
          <p:nvPr/>
        </p:nvSpPr>
        <p:spPr>
          <a:xfrm>
            <a:off x="283426" y="29091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PROPOSED SYSTEM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E78B8B-4A53-4467-05E0-59518304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8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D68AD-4E32-E31A-D4F6-E43738DF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C254-ED05-4C5B-9F01-5F36433BCEA5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06279-6451-2215-8750-82957C21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D19651-1434-AC6F-2085-784036986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26" y="1240995"/>
            <a:ext cx="113751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cultural passages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(SBERT)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input analysis and source content preservation.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narrative summaries and dialogues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Llama-3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summarization)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Flan-T5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dialogue and emotion refinement).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characters, objects, and 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(the scene blueprint)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BERT-based Semantic Role Labeling (SRL)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 scene parsing.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Synthesize comic-style visuals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(ensuring consistency/authenticity)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VQGAN+CLIP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generative models.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Arrange visuals and text boxes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optimal reading flow)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LayoutGAN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layout generator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multi-panel design.</a:t>
            </a:r>
          </a:p>
        </p:txBody>
      </p:sp>
    </p:spTree>
    <p:extLst>
      <p:ext uri="{BB962C8B-B14F-4D97-AF65-F5344CB8AC3E}">
        <p14:creationId xmlns:p14="http://schemas.microsoft.com/office/powerpoint/2010/main" val="196383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A5DB0-6675-7C48-3494-8B2B1CB3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61981F-63EC-9E81-F2CE-C26851007C64}"/>
              </a:ext>
            </a:extLst>
          </p:cNvPr>
          <p:cNvSpPr txBox="1"/>
          <p:nvPr/>
        </p:nvSpPr>
        <p:spPr>
          <a:xfrm>
            <a:off x="318403" y="19358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76AC7-ECAA-51CC-2B6B-027A0E8C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9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78162C-F6D4-89A1-C0FE-D22CD450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2D664-75AF-4F24-A3E0-6ADA2DE5DD40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0AD3A-1457-482F-4483-CE1871A2B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8FCF61-F2F3-8A9B-5437-0BBD398D2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27" y="1196114"/>
            <a:ext cx="10380345" cy="51153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2659C3-C540-C83E-EF47-09D9EB641B4A}"/>
              </a:ext>
            </a:extLst>
          </p:cNvPr>
          <p:cNvSpPr txBox="1"/>
          <p:nvPr/>
        </p:nvSpPr>
        <p:spPr>
          <a:xfrm>
            <a:off x="4736592" y="826782"/>
            <a:ext cx="3264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TaleToon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E111FB-260A-E0CE-D28D-3CA52BF971A0}"/>
              </a:ext>
            </a:extLst>
          </p:cNvPr>
          <p:cNvCxnSpPr/>
          <p:nvPr/>
        </p:nvCxnSpPr>
        <p:spPr>
          <a:xfrm>
            <a:off x="4749292" y="2550160"/>
            <a:ext cx="0" cy="28702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6592F0-85B4-DE5F-C32F-48283BCD9D88}"/>
              </a:ext>
            </a:extLst>
          </p:cNvPr>
          <p:cNvCxnSpPr/>
          <p:nvPr/>
        </p:nvCxnSpPr>
        <p:spPr>
          <a:xfrm>
            <a:off x="9987280" y="2743200"/>
            <a:ext cx="0" cy="54356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238CB-AAB0-BDE3-3C8F-5E9CEA28B19E}"/>
              </a:ext>
            </a:extLst>
          </p:cNvPr>
          <p:cNvCxnSpPr/>
          <p:nvPr/>
        </p:nvCxnSpPr>
        <p:spPr>
          <a:xfrm>
            <a:off x="9987280" y="3787140"/>
            <a:ext cx="0" cy="38862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89170-DD51-858E-E4F2-90F0262A4CD3}"/>
              </a:ext>
            </a:extLst>
          </p:cNvPr>
          <p:cNvCxnSpPr/>
          <p:nvPr/>
        </p:nvCxnSpPr>
        <p:spPr>
          <a:xfrm>
            <a:off x="9987280" y="4667250"/>
            <a:ext cx="0" cy="38862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717D35-B868-35AF-DFDE-525B00C3E128}"/>
              </a:ext>
            </a:extLst>
          </p:cNvPr>
          <p:cNvCxnSpPr/>
          <p:nvPr/>
        </p:nvCxnSpPr>
        <p:spPr>
          <a:xfrm>
            <a:off x="7980680" y="4667250"/>
            <a:ext cx="0" cy="38862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C30561-7206-4629-6D92-0B76C02B3517}"/>
              </a:ext>
            </a:extLst>
          </p:cNvPr>
          <p:cNvCxnSpPr/>
          <p:nvPr/>
        </p:nvCxnSpPr>
        <p:spPr>
          <a:xfrm>
            <a:off x="6036945" y="4675505"/>
            <a:ext cx="0" cy="37211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90CF12-D49F-CF6A-FD20-AE00F6D17662}"/>
              </a:ext>
            </a:extLst>
          </p:cNvPr>
          <p:cNvCxnSpPr/>
          <p:nvPr/>
        </p:nvCxnSpPr>
        <p:spPr>
          <a:xfrm>
            <a:off x="3996436" y="4629785"/>
            <a:ext cx="0" cy="40005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99DAD9C-ED91-C843-B277-581BB4EFE8DC}"/>
              </a:ext>
            </a:extLst>
          </p:cNvPr>
          <p:cNvCxnSpPr>
            <a:cxnSpLocks/>
          </p:cNvCxnSpPr>
          <p:nvPr/>
        </p:nvCxnSpPr>
        <p:spPr>
          <a:xfrm rot="10800000">
            <a:off x="1859281" y="4993640"/>
            <a:ext cx="1826909" cy="299722"/>
          </a:xfrm>
          <a:prstGeom prst="bentConnector3">
            <a:avLst>
              <a:gd name="adj1" fmla="val 10005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96BF233-01BE-B835-586D-ECBB218889E7}"/>
              </a:ext>
            </a:extLst>
          </p:cNvPr>
          <p:cNvCxnSpPr>
            <a:cxnSpLocks/>
          </p:cNvCxnSpPr>
          <p:nvPr/>
        </p:nvCxnSpPr>
        <p:spPr>
          <a:xfrm rot="10800000">
            <a:off x="4420236" y="4411982"/>
            <a:ext cx="1222375" cy="914399"/>
          </a:xfrm>
          <a:prstGeom prst="bentConnector3">
            <a:avLst>
              <a:gd name="adj1" fmla="val 48005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685B53FD-F620-104E-4C64-7E0DCFE0B090}"/>
              </a:ext>
            </a:extLst>
          </p:cNvPr>
          <p:cNvCxnSpPr/>
          <p:nvPr/>
        </p:nvCxnSpPr>
        <p:spPr>
          <a:xfrm rot="10800000">
            <a:off x="6431280" y="4411981"/>
            <a:ext cx="1146048" cy="914401"/>
          </a:xfrm>
          <a:prstGeom prst="bentConnector3">
            <a:avLst>
              <a:gd name="adj1" fmla="val 52660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BBA4A2C-1BBB-8F7B-C988-E4E4BE43CD2D}"/>
              </a:ext>
            </a:extLst>
          </p:cNvPr>
          <p:cNvCxnSpPr/>
          <p:nvPr/>
        </p:nvCxnSpPr>
        <p:spPr>
          <a:xfrm rot="10800000">
            <a:off x="8375904" y="4411982"/>
            <a:ext cx="1182624" cy="958595"/>
          </a:xfrm>
          <a:prstGeom prst="bentConnector3">
            <a:avLst>
              <a:gd name="adj1" fmla="val 38144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8DA4DB7-8CE2-BEAF-8FF1-1768A3EF1EA9}"/>
              </a:ext>
            </a:extLst>
          </p:cNvPr>
          <p:cNvCxnSpPr/>
          <p:nvPr/>
        </p:nvCxnSpPr>
        <p:spPr>
          <a:xfrm>
            <a:off x="8543925" y="3012440"/>
            <a:ext cx="868680" cy="345057"/>
          </a:xfrm>
          <a:prstGeom prst="bentConnector3">
            <a:avLst>
              <a:gd name="adj1" fmla="val 658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FD82BFB-AA0B-7AD8-DA02-727CEFE56D1A}"/>
              </a:ext>
            </a:extLst>
          </p:cNvPr>
          <p:cNvCxnSpPr>
            <a:cxnSpLocks/>
          </p:cNvCxnSpPr>
          <p:nvPr/>
        </p:nvCxnSpPr>
        <p:spPr>
          <a:xfrm flipV="1">
            <a:off x="5939790" y="2820035"/>
            <a:ext cx="1341439" cy="309880"/>
          </a:xfrm>
          <a:prstGeom prst="bentConnector3">
            <a:avLst>
              <a:gd name="adj1" fmla="val 99988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1C4D0E3E-129E-33B5-D7A6-5B34F7E836F5}"/>
              </a:ext>
            </a:extLst>
          </p:cNvPr>
          <p:cNvCxnSpPr/>
          <p:nvPr/>
        </p:nvCxnSpPr>
        <p:spPr>
          <a:xfrm>
            <a:off x="7231380" y="2240280"/>
            <a:ext cx="1333500" cy="146685"/>
          </a:xfrm>
          <a:prstGeom prst="bentConnector3">
            <a:avLst>
              <a:gd name="adj1" fmla="val 99714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0BAEAD57-F6DC-1FC7-8B90-C2B602D1298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29890" y="2443668"/>
            <a:ext cx="492760" cy="232667"/>
          </a:xfrm>
          <a:prstGeom prst="bentConnector3">
            <a:avLst>
              <a:gd name="adj1" fmla="val 100515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9B4EC20E-3F92-3940-2A34-80C473CD256B}"/>
              </a:ext>
            </a:extLst>
          </p:cNvPr>
          <p:cNvCxnSpPr>
            <a:cxnSpLocks/>
          </p:cNvCxnSpPr>
          <p:nvPr/>
        </p:nvCxnSpPr>
        <p:spPr>
          <a:xfrm flipV="1">
            <a:off x="5120640" y="2257425"/>
            <a:ext cx="870585" cy="755015"/>
          </a:xfrm>
          <a:prstGeom prst="bentConnector3">
            <a:avLst>
              <a:gd name="adj1" fmla="val 35777"/>
            </a:avLst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74931BC-8FA2-BA2C-BD6A-A3C7B63BABBD}"/>
              </a:ext>
            </a:extLst>
          </p:cNvPr>
          <p:cNvCxnSpPr/>
          <p:nvPr/>
        </p:nvCxnSpPr>
        <p:spPr>
          <a:xfrm>
            <a:off x="5991225" y="2257425"/>
            <a:ext cx="0" cy="152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FD22FD33-4D33-1287-72C9-C394B01EDBB5}"/>
              </a:ext>
            </a:extLst>
          </p:cNvPr>
          <p:cNvCxnSpPr/>
          <p:nvPr/>
        </p:nvCxnSpPr>
        <p:spPr>
          <a:xfrm flipV="1">
            <a:off x="2487168" y="1719072"/>
            <a:ext cx="7500112" cy="1465896"/>
          </a:xfrm>
          <a:prstGeom prst="bentConnector3">
            <a:avLst>
              <a:gd name="adj1" fmla="val 1355"/>
            </a:avLst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8777598-B2CE-0B4E-CF22-BF9CA7D9D1C6}"/>
              </a:ext>
            </a:extLst>
          </p:cNvPr>
          <p:cNvCxnSpPr/>
          <p:nvPr/>
        </p:nvCxnSpPr>
        <p:spPr>
          <a:xfrm>
            <a:off x="9987280" y="1719072"/>
            <a:ext cx="0" cy="521208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5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500"/>
                            </p:stCondLst>
                            <p:childTnLst>
                              <p:par>
                                <p:cTn id="8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DB48-4063-DEEB-FC5E-3559ECCA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83AF1-9600-D2DA-BB08-BD116992804C}"/>
              </a:ext>
            </a:extLst>
          </p:cNvPr>
          <p:cNvSpPr txBox="1"/>
          <p:nvPr/>
        </p:nvSpPr>
        <p:spPr>
          <a:xfrm>
            <a:off x="313405" y="26093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DETAILS OF MODULES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AFDFD-EEFB-DE1D-BC7F-03B91B0075BF}"/>
              </a:ext>
            </a:extLst>
          </p:cNvPr>
          <p:cNvSpPr txBox="1"/>
          <p:nvPr/>
        </p:nvSpPr>
        <p:spPr>
          <a:xfrm>
            <a:off x="313405" y="96882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 (Preprocessing)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927C3-3709-E48D-A311-234563F95EFD}"/>
              </a:ext>
            </a:extLst>
          </p:cNvPr>
          <p:cNvSpPr txBox="1"/>
          <p:nvPr/>
        </p:nvSpPr>
        <p:spPr>
          <a:xfrm>
            <a:off x="5216577" y="2138376"/>
            <a:ext cx="65085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Book (Raw Text Corpus of cultural/festival data)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 &amp; Segmentation: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raw text from the PDF using PyPDF2.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text (remove headers, footers, special characters).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the cleaned text into fixed-size or paragraph-based chunks suitable for embedding.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Dataset (Cleaned and chunked text files).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F7FDE66-C555-C0F2-F6EC-BB002D50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10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71D8E-6218-2D8D-E8C1-B1593A5F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8197-09E3-47FD-8FA4-C132E3088CA0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1B731-E1CC-FF97-2B96-3B5FDC44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6D919-F0AF-3FA3-8F3B-F2D901F7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7" y="2138376"/>
            <a:ext cx="4782248" cy="299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6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3736-B731-ACB9-573D-CF7DE69E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57ED5B-8878-7B78-B21A-83D365AD4BC2}"/>
              </a:ext>
            </a:extLst>
          </p:cNvPr>
          <p:cNvSpPr txBox="1"/>
          <p:nvPr/>
        </p:nvSpPr>
        <p:spPr>
          <a:xfrm>
            <a:off x="313405" y="25610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DETAILS OF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BAEAD-5C33-7ABF-C0BA-CA79F33DC599}"/>
              </a:ext>
            </a:extLst>
          </p:cNvPr>
          <p:cNvSpPr txBox="1"/>
          <p:nvPr/>
        </p:nvSpPr>
        <p:spPr>
          <a:xfrm>
            <a:off x="313405" y="96882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Embedding Vectorization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357CC-9C1C-69D4-F4C9-B63A54F242A0}"/>
              </a:ext>
            </a:extLst>
          </p:cNvPr>
          <p:cNvSpPr txBox="1"/>
          <p:nvPr/>
        </p:nvSpPr>
        <p:spPr>
          <a:xfrm>
            <a:off x="5586656" y="1999875"/>
            <a:ext cx="6093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Dataset (Text chunks from Data Preparation)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SBERT Encoding: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pre-trained Sentence-BERT (SBERT) model.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each text chunk through SBERT to generate a high-dimensional vector embedding.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chunk and its corresponding vector in the database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DB (Database containing paired text chunks and their high-dimensional vector embeddings).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C51C63-8796-FC1C-02AA-9D8A91FD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11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9757B-B51B-BCA8-CE54-52C37A9E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1974-4CD6-4100-8FBD-E6D5E50A7781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A1930-2EA5-13FD-4FFE-DAE9CEF4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60E8FB-A1BC-521F-0F73-13A7605ED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5" y="2180608"/>
            <a:ext cx="5051075" cy="290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E6D9-6706-1155-3062-495752E7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773FFC-D427-2A6A-54E9-FC06091540AA}"/>
              </a:ext>
            </a:extLst>
          </p:cNvPr>
          <p:cNvSpPr txBox="1"/>
          <p:nvPr/>
        </p:nvSpPr>
        <p:spPr>
          <a:xfrm>
            <a:off x="313405" y="26093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DETAILS OF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9647B-576C-D624-6841-3454FBF1F6EB}"/>
              </a:ext>
            </a:extLst>
          </p:cNvPr>
          <p:cNvSpPr txBox="1"/>
          <p:nvPr/>
        </p:nvSpPr>
        <p:spPr>
          <a:xfrm>
            <a:off x="313405" y="96882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Narrative Story Generation (RAG Core)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F6EB1-7F32-3611-317D-CBE8D0430FDC}"/>
              </a:ext>
            </a:extLst>
          </p:cNvPr>
          <p:cNvSpPr txBox="1"/>
          <p:nvPr/>
        </p:nvSpPr>
        <p:spPr>
          <a:xfrm>
            <a:off x="313405" y="1753623"/>
            <a:ext cx="70555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Festival Query (User-entered text/topic, e.g., "Story of Diwali"); Vector DB.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&amp; Generation (RAG): </a:t>
            </a:r>
          </a:p>
          <a:p>
            <a:pPr marL="342900" indent="-342900">
              <a:buAutoNum type="arabicPeriod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 the user query using SBERT. Query the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DB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the top-K most relevant cultural text chunks. </a:t>
            </a:r>
          </a:p>
          <a:p>
            <a:pPr marL="342900" indent="-342900">
              <a:buAutoNum type="arabicPeriod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 (Llama-3):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 a prompt for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Llama-3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the original query and the retrieved chunks. Instruct Llama-3 to summarize the facts into a coherent narrative.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Story (Coherent, factual, multi-paragraph narrative).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9B2245-589D-BB00-BC3B-4005F5BF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12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F18CC-B4F8-97E8-5AD7-4CCDA62D6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E27E-E5CA-4DDC-B2EE-7A53B07677B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C2FF-E191-E257-010D-E60A1A34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5DC1A1-7DA8-0004-282C-BE2D7686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239" y="614882"/>
            <a:ext cx="3340491" cy="548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12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35AC-4BE7-74F0-8BC0-9FFF408F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DDA23-F710-01C2-D458-38DFE5321658}"/>
              </a:ext>
            </a:extLst>
          </p:cNvPr>
          <p:cNvSpPr txBox="1"/>
          <p:nvPr/>
        </p:nvSpPr>
        <p:spPr>
          <a:xfrm>
            <a:off x="313405" y="26093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DETAILS OF MODULES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7CF29-BE39-C5E8-DC88-02C08852BD98}"/>
              </a:ext>
            </a:extLst>
          </p:cNvPr>
          <p:cNvSpPr txBox="1"/>
          <p:nvPr/>
        </p:nvSpPr>
        <p:spPr>
          <a:xfrm>
            <a:off x="313404" y="968825"/>
            <a:ext cx="93852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and Dialogue 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(Narrative 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Refinement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4ABB1-22FE-2544-3439-0B93FD9D94C4}"/>
              </a:ext>
            </a:extLst>
          </p:cNvPr>
          <p:cNvSpPr txBox="1"/>
          <p:nvPr/>
        </p:nvSpPr>
        <p:spPr>
          <a:xfrm>
            <a:off x="4511040" y="1556384"/>
            <a:ext cx="7405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Story (Factual narrative text).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SRL &amp; Refinement (Flan-T5/BERT): </a:t>
            </a:r>
          </a:p>
          <a:p>
            <a:pPr marL="342900" indent="-342900">
              <a:buAutoNum type="arabicPeriod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 Segmentation: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 the narrative into discrete, comic-ready scenes (e.g., based on shifts in time, setting, or action). </a:t>
            </a:r>
          </a:p>
          <a:p>
            <a:pPr marL="342900" indent="-342900">
              <a:buAutoNum type="arabicPeriod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Extraction (BERT-SRL):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scene, apply BERT-based Semantic Role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(SRL) to identify the Subject (Character), Verb (Action), and Object/Setting. </a:t>
            </a:r>
          </a:p>
          <a:p>
            <a:pPr marL="342900" indent="-342900">
              <a:buAutoNum type="arabicPeriod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Dialogue/Emotion Refinement (Flan-T5):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Flan-T5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refine the action and entities into specific visual descriptions and generate expressive dialogues/captions (Textual Prompts).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Scenes (Structured JSON/XML objects for each comic panel, containing the image prompt, character list, background, and dialogue).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C39A17-3620-44D5-7BCB-50B73495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13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D951A-E964-DA6A-12CB-422AE2C3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B3D18-B902-4A9F-A2C3-9D7738664F53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C17E3-777A-B01F-4FFE-EC10711B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C2DEA2-3A12-AB0C-96B7-0E7A29854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84" y="1676711"/>
            <a:ext cx="3703050" cy="363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6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7C32-6CD4-400B-46A7-EC9427CF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5C01B4-7AA3-ECB6-26CD-E6B35EAE434F}"/>
              </a:ext>
            </a:extLst>
          </p:cNvPr>
          <p:cNvSpPr txBox="1"/>
          <p:nvPr/>
        </p:nvSpPr>
        <p:spPr>
          <a:xfrm>
            <a:off x="313405" y="26093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DETAILS OF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9B95-831D-F03B-4962-145CAC74D326}"/>
              </a:ext>
            </a:extLst>
          </p:cNvPr>
          <p:cNvSpPr txBox="1"/>
          <p:nvPr/>
        </p:nvSpPr>
        <p:spPr>
          <a:xfrm>
            <a:off x="313404" y="968825"/>
            <a:ext cx="7571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Text to Image Generation (Visual Synthesis)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90A6D-F519-9326-4CA5-FC3989C8525B}"/>
              </a:ext>
            </a:extLst>
          </p:cNvPr>
          <p:cNvSpPr txBox="1"/>
          <p:nvPr/>
        </p:nvSpPr>
        <p:spPr>
          <a:xfrm>
            <a:off x="4800154" y="2025431"/>
            <a:ext cx="70555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Scenes (Structured data with image prompts, entity details, and cultural style cues).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Diffusion (Stable Diffusion): </a:t>
            </a:r>
          </a:p>
          <a:p>
            <a:pPr marL="342900" indent="-342900">
              <a:buAutoNum type="arabicPeriod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the textual prompts and structural cues from the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Scenes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</a:t>
            </a:r>
          </a:p>
          <a:p>
            <a:pPr marL="342900" indent="-342900">
              <a:buAutoNum type="arabicPeriod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visual output.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(Individual comic panel visuals, ensuring consistent characters and cultural backgrounds).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6AA72F-D8A0-AC4F-C4B1-309E21EA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14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C1298-16D9-A049-E68F-BCBB9ECC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B018-3E7D-4285-B3B4-0D2EE35B0B9F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54564-04D1-DD13-4C2C-1D33070E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9A3B37-ABF5-07C8-3A16-9A36204F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77" y="1951182"/>
            <a:ext cx="3616603" cy="328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22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03B7-5BB3-AA05-427B-6E13AE3F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762C0A-1D8C-B35D-097C-F022F1152160}"/>
              </a:ext>
            </a:extLst>
          </p:cNvPr>
          <p:cNvSpPr txBox="1"/>
          <p:nvPr/>
        </p:nvSpPr>
        <p:spPr>
          <a:xfrm>
            <a:off x="313405" y="26093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DETAILS OF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4389F-1E83-392B-E6A4-716805020D80}"/>
              </a:ext>
            </a:extLst>
          </p:cNvPr>
          <p:cNvSpPr txBox="1"/>
          <p:nvPr/>
        </p:nvSpPr>
        <p:spPr>
          <a:xfrm>
            <a:off x="313405" y="96882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Comic Layout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30FFA-BADB-82C3-DADC-65B779E5E7A6}"/>
              </a:ext>
            </a:extLst>
          </p:cNvPr>
          <p:cNvSpPr txBox="1"/>
          <p:nvPr/>
        </p:nvSpPr>
        <p:spPr>
          <a:xfrm>
            <a:off x="4543048" y="1582340"/>
            <a:ext cx="696670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(Synthesized panel visuals); Scenes (Structured data containing dialogues/captions).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Generation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number of panels per row/page based on scene count and complexity.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 Layout Generation Model (e.g.,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LayoutGAN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arrange the image panels, respecting reading order and panel boundaries. </a:t>
            </a:r>
          </a:p>
          <a:p>
            <a:pPr marL="342900" indent="-34290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 all elements into a single cohesive comic page image.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Comic Panels / Final Assembled Comic (Web-ready digital comic output).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374640-61FC-D2A6-0197-71AAF8CC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15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3BB25-BC6E-9D5B-85B7-994D6739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FEF8-C320-4049-A43C-27C65B562129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650D8-D18E-2069-1405-6CB485F5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21572-D95D-901C-D3B2-B4FF59B28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99" y="1830420"/>
            <a:ext cx="3625802" cy="338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8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2D240-AE20-CC7C-2A03-E605CACB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C76043-3C04-5437-9DCB-89DDCAEFA9DA}"/>
              </a:ext>
            </a:extLst>
          </p:cNvPr>
          <p:cNvSpPr txBox="1"/>
          <p:nvPr/>
        </p:nvSpPr>
        <p:spPr>
          <a:xfrm>
            <a:off x="358376" y="33588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PERFORMACE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D5763-9413-72E8-22A2-3B0BA9979331}"/>
              </a:ext>
            </a:extLst>
          </p:cNvPr>
          <p:cNvSpPr txBox="1"/>
          <p:nvPr/>
        </p:nvSpPr>
        <p:spPr>
          <a:xfrm>
            <a:off x="358376" y="985958"/>
            <a:ext cx="8410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Retrieval Performance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(Measuring Input Relevance)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F3C8C-C8D3-11DC-14B4-54A53848AB0F}"/>
              </a:ext>
            </a:extLst>
          </p:cNvPr>
          <p:cNvSpPr txBox="1"/>
          <p:nvPr/>
        </p:nvSpPr>
        <p:spPr>
          <a:xfrm>
            <a:off x="722026" y="1463620"/>
            <a:ext cx="11152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Reciprocal Rank (MRR):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that the most contextually relevant cultural passages are retrieved closer to the top of the search results for a user’s query.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CA14D-2DBF-FEE3-E4E9-1F9A5C9466D6}"/>
              </a:ext>
            </a:extLst>
          </p:cNvPr>
          <p:cNvSpPr txBox="1"/>
          <p:nvPr/>
        </p:nvSpPr>
        <p:spPr>
          <a:xfrm>
            <a:off x="2704891" y="2756772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Q is the set of queries and 𝑟𝑎𝑛𝑘</a:t>
            </a:r>
            <a:r>
              <a:rPr lang="en-I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​ is the position of the first relevant document for query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BEF7BE-F95F-6506-A19E-123D12E05C65}"/>
              </a:ext>
            </a:extLst>
          </p:cNvPr>
          <p:cNvSpPr txBox="1"/>
          <p:nvPr/>
        </p:nvSpPr>
        <p:spPr>
          <a:xfrm>
            <a:off x="680942" y="3235715"/>
            <a:ext cx="1074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average of the reciprocal ranks (1/rank) of the first relevant document across all queries.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3118FF-6CE9-A81C-877B-1B7615F30D9F}"/>
              </a:ext>
            </a:extLst>
          </p:cNvPr>
          <p:cNvSpPr txBox="1"/>
          <p:nvPr/>
        </p:nvSpPr>
        <p:spPr>
          <a:xfrm>
            <a:off x="358376" y="3795295"/>
            <a:ext cx="8410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Narrative Consistency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(Measuring Fact Integrity)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88DA3-008D-885A-0815-4E44C9B32BB8}"/>
              </a:ext>
            </a:extLst>
          </p:cNvPr>
          <p:cNvSpPr txBox="1"/>
          <p:nvPr/>
        </p:nvSpPr>
        <p:spPr>
          <a:xfrm>
            <a:off x="680942" y="4283460"/>
            <a:ext cx="11152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Consistency Score (FCS):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how well the summarization and narrative modules (Llama-3/Flan-T5) preserve the cultural facts and event sequences from the original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0EC379-4E19-EFD4-B4E0-98108F2B7E95}"/>
              </a:ext>
            </a:extLst>
          </p:cNvPr>
          <p:cNvSpPr txBox="1"/>
          <p:nvPr/>
        </p:nvSpPr>
        <p:spPr>
          <a:xfrm>
            <a:off x="680941" y="5583387"/>
            <a:ext cx="1074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of the Number of consistent factual entities to the Total factual entities in reference text.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4CD9B33-EC24-737B-21D0-3FB5DA0B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16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C95C4-2447-31A7-24D6-01B543969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A049-8C87-4F32-978A-1CEEB28CC664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0D85D-ED6C-7FB6-9BF7-0E65A853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784F2-9BA7-3C75-2CF2-2B6431D196FA}"/>
                  </a:ext>
                </a:extLst>
              </p:cNvPr>
              <p:cNvSpPr txBox="1"/>
              <p:nvPr/>
            </p:nvSpPr>
            <p:spPr>
              <a:xfrm>
                <a:off x="4415024" y="2386950"/>
                <a:ext cx="2673235" cy="3487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MRR = 1/|Q|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𝑟𝑎𝑛𝑘𝑖</m:t>
                        </m:r>
                      </m:e>
                    </m:nary>
                  </m:oMath>
                </a14:m>
                <a:endParaRPr lang="en-IN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784F2-9BA7-3C75-2CF2-2B6431D19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024" y="2386950"/>
                <a:ext cx="2673235" cy="348750"/>
              </a:xfrm>
              <a:prstGeom prst="rect">
                <a:avLst/>
              </a:prstGeom>
              <a:blipFill>
                <a:blip r:embed="rId2"/>
                <a:stretch>
                  <a:fillRect l="-5239" t="-126316" b="-20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B2EF447-4F6C-7840-41D1-92AA0369D779}"/>
              </a:ext>
            </a:extLst>
          </p:cNvPr>
          <p:cNvSpPr txBox="1"/>
          <p:nvPr/>
        </p:nvSpPr>
        <p:spPr>
          <a:xfrm>
            <a:off x="2298505" y="5254639"/>
            <a:ext cx="76019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FCS = Number of consistent factual entities/Total factual entities in reference text</a:t>
            </a:r>
          </a:p>
        </p:txBody>
      </p:sp>
    </p:spTree>
    <p:extLst>
      <p:ext uri="{BB962C8B-B14F-4D97-AF65-F5344CB8AC3E}">
        <p14:creationId xmlns:p14="http://schemas.microsoft.com/office/powerpoint/2010/main" val="274365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125C-61AC-D4F4-71D4-1A7C6C29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1C8EDB-817C-3B28-3A48-D3FE38A15790}"/>
              </a:ext>
            </a:extLst>
          </p:cNvPr>
          <p:cNvSpPr txBox="1"/>
          <p:nvPr/>
        </p:nvSpPr>
        <p:spPr>
          <a:xfrm>
            <a:off x="358376" y="33588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PERFORMACE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71666-F61A-8005-394E-89DE0DB0275E}"/>
              </a:ext>
            </a:extLst>
          </p:cNvPr>
          <p:cNvSpPr txBox="1"/>
          <p:nvPr/>
        </p:nvSpPr>
        <p:spPr>
          <a:xfrm>
            <a:off x="358376" y="974028"/>
            <a:ext cx="8410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Visual Quality and Alignment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(Multimodal)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C822B-55A1-3189-CD6D-8CE18BD49523}"/>
              </a:ext>
            </a:extLst>
          </p:cNvPr>
          <p:cNvSpPr txBox="1"/>
          <p:nvPr/>
        </p:nvSpPr>
        <p:spPr>
          <a:xfrm>
            <a:off x="722024" y="1453258"/>
            <a:ext cx="11152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 Score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semantic consistency between the narrative text (prompts) and the generated visual scenes, ensuring accurate scene-to-image mapping.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B1A11E-1A2C-3D60-5F44-EC422DEB686A}"/>
              </a:ext>
            </a:extLst>
          </p:cNvPr>
          <p:cNvSpPr txBox="1"/>
          <p:nvPr/>
        </p:nvSpPr>
        <p:spPr>
          <a:xfrm>
            <a:off x="722025" y="3264476"/>
            <a:ext cx="11152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text and image feature vectors generated by the CLIP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8AA66A-E9B3-9822-56EF-B8581E4B877D}"/>
              </a:ext>
            </a:extLst>
          </p:cNvPr>
          <p:cNvSpPr txBox="1"/>
          <p:nvPr/>
        </p:nvSpPr>
        <p:spPr>
          <a:xfrm>
            <a:off x="3120370" y="2856331"/>
            <a:ext cx="6093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𝑓</a:t>
            </a:r>
            <a:r>
              <a:rPr lang="en-I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𝑡 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𝑓</a:t>
            </a:r>
            <a:r>
              <a:rPr lang="en-I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𝑖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​ denote the text and image feature vectors respectively.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24CB7C3-9F27-7758-A359-C548393D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17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17B6A-1B06-D27E-5074-8E55B2D8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4C6F5-FC11-4160-A944-4D77CF71CB87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4060C-A8EC-F760-2C83-F9133079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24F36-42EE-664E-33FC-3A54BF4CC8A7}"/>
              </a:ext>
            </a:extLst>
          </p:cNvPr>
          <p:cNvSpPr txBox="1"/>
          <p:nvPr/>
        </p:nvSpPr>
        <p:spPr>
          <a:xfrm>
            <a:off x="4575326" y="2529148"/>
            <a:ext cx="23526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 Score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∙f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/||f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||∙||f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</a:p>
        </p:txBody>
      </p:sp>
    </p:spTree>
    <p:extLst>
      <p:ext uri="{BB962C8B-B14F-4D97-AF65-F5344CB8AC3E}">
        <p14:creationId xmlns:p14="http://schemas.microsoft.com/office/powerpoint/2010/main" val="824958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882A-4937-E48C-F4CD-E05D713D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D2E3E8-8F26-D898-D6F3-F6276E18CA2D}"/>
              </a:ext>
            </a:extLst>
          </p:cNvPr>
          <p:cNvSpPr txBox="1"/>
          <p:nvPr/>
        </p:nvSpPr>
        <p:spPr>
          <a:xfrm>
            <a:off x="358376" y="350880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DATASET DESCRIPTION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4CF279-E2E6-4471-888C-3B6A60B7E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86501"/>
              </p:ext>
            </p:extLst>
          </p:nvPr>
        </p:nvGraphicFramePr>
        <p:xfrm>
          <a:off x="503003" y="1334261"/>
          <a:ext cx="11069403" cy="42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9351">
                  <a:extLst>
                    <a:ext uri="{9D8B030D-6E8A-4147-A177-3AD203B41FA5}">
                      <a16:colId xmlns:a16="http://schemas.microsoft.com/office/drawing/2014/main" val="1537636526"/>
                    </a:ext>
                  </a:extLst>
                </a:gridCol>
                <a:gridCol w="3850251">
                  <a:extLst>
                    <a:ext uri="{9D8B030D-6E8A-4147-A177-3AD203B41FA5}">
                      <a16:colId xmlns:a16="http://schemas.microsoft.com/office/drawing/2014/main" val="3661853565"/>
                    </a:ext>
                  </a:extLst>
                </a:gridCol>
                <a:gridCol w="3689801">
                  <a:extLst>
                    <a:ext uri="{9D8B030D-6E8A-4147-A177-3AD203B41FA5}">
                      <a16:colId xmlns:a16="http://schemas.microsoft.com/office/drawing/2014/main" val="1351249633"/>
                    </a:ext>
                  </a:extLst>
                </a:gridCol>
              </a:tblGrid>
              <a:tr h="59947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+mn-lt"/>
                          <a:cs typeface="Arial" panose="020B0604020202020204" pitchFamily="34" charset="0"/>
                        </a:rPr>
                        <a:t>DATASET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+mn-lt"/>
                          <a:cs typeface="Arial" panose="020B0604020202020204" pitchFamily="34" charset="0"/>
                        </a:rPr>
                        <a:t>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611039"/>
                  </a:ext>
                </a:extLst>
              </a:tr>
              <a:tr h="179882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"Festivals of India" (By Dr. Venugopal Menon) 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Book 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Link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essay explaining the origin, legends, symbolism, and regional significance of major Hindu, Sikh, Jain, Buddhist, Muslim, and Christian festivals in India.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as the high-quality source for Text Retrieval and Summarization (RAG source) to maintain historical and cultural accuracy in comic generation.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010613"/>
                  </a:ext>
                </a:extLst>
              </a:tr>
              <a:tr h="184379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"Fairs and Festivals of India“ (By </a:t>
                      </a:r>
                      <a:r>
                        <a:rPr lang="en-IN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Wiley India)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Supplementary Course Material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Link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major Indian festivals and fairs, including brief descriptions, customs, and symbolic practices. Also includes state-wise festival lists.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Event Categorization, Cultural Detail Verification, and Narrative Refinement (Flan-T5 prompting) to guide accurate visual storytelling.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02577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063DF-A99C-5757-C580-9862DAED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18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31F4A-6703-3396-E7FD-603B3214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EB05-7FCB-46D8-A77E-F64CB646072F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A7982-A924-160E-2CA1-3236047D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917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5186-45DC-8E8B-A5CA-F4F66E8E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BF5D03-9F86-5F5E-089D-E7C78611DDAC}"/>
              </a:ext>
            </a:extLst>
          </p:cNvPr>
          <p:cNvSpPr txBox="1"/>
          <p:nvPr/>
        </p:nvSpPr>
        <p:spPr>
          <a:xfrm>
            <a:off x="268435" y="32089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DELIVERABLES TO BE DEMONSTRATED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E29BDB7-57B8-C45A-D2DF-A41723494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6081" y="1509249"/>
            <a:ext cx="76200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End-to-End Visual Story Generation: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the entire pipeline by converting a single cultural query (e.g., "Story of Ganesh Chaturthi") into a complete, multi-panel comic page that is culturally coherent and ready for reading.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Measurable Quality and Consistency: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quantitative proof of the system's success across its pipeline, specifically demonstrating high scores in Mean Reciprocal Rank (MRR) for factual retrieval.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Semantic-Visual Alignment: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the accuracy of the multimodal translation by showing a high CLIP Score, proving that the BERT-SRL extracted narrative details (characters, actions, settings) are correctly reflected in the generated images.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A2A5D9-304A-6FE6-02C2-185213EF1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35" y="1028785"/>
            <a:ext cx="3733390" cy="4995197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7A65A74-9BF7-A7C4-3FF7-8ED736FF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19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2F7D8-77D9-FFAA-EFA9-0A814E3A8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3788C-43F1-4D77-B08E-C8A278ABE077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73301-16DA-6D9C-BC68-65D9522E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68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2708-7B9D-C6BE-6E9B-316E9485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D09DB0-9AA9-A6F3-07A5-EAE65CCA5DD4}"/>
              </a:ext>
            </a:extLst>
          </p:cNvPr>
          <p:cNvSpPr txBox="1"/>
          <p:nvPr/>
        </p:nvSpPr>
        <p:spPr>
          <a:xfrm>
            <a:off x="268435" y="320899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DELIVERABLES TO BE DEMONSTRATED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B392407-6F69-14C0-4E41-ECF01DE22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" y="1509250"/>
            <a:ext cx="1140460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Narrative Story Generation (RAG)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outputs a series of raw, relevant text paragraphs/chunks (e.g., historical facts, ritual steps, deity names) from the Source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Scene &amp; Dialogue Generation (BERT-SRL)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Structured Text (a "blueprint" or script): e.g., Scene 1: [Character: Krishna), [Action: Lifts Mountain], [Dialogue: "Worship Govardhan"], [Setting: Storm/Rain].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Text to Image Generation (Stable Diffusion)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individual, high-quality, comic-style image panels (e.g., Lord Krishna lifting the hill, but in a clean, Indian comic art style).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Comic Layout 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LayoutGAN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a Multi-Panel Comic Strip with all elements integrated: Panels arranged in reading order, characters cropped/placed, and dialogues/balloons correctly positioned.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1716A01-7FEB-2E31-83E7-047CD5E8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20</a:t>
            </a:fld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F3C5B-6AC6-540C-7BC7-1248C2D8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3788C-43F1-4D77-B08E-C8A278ABE077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81186-146B-21B3-963B-BD4DA1DA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AE635-D50E-5FD3-9264-4417A410252C}"/>
              </a:ext>
            </a:extLst>
          </p:cNvPr>
          <p:cNvSpPr txBox="1"/>
          <p:nvPr/>
        </p:nvSpPr>
        <p:spPr>
          <a:xfrm>
            <a:off x="268435" y="895646"/>
            <a:ext cx="466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Deliverables</a:t>
            </a:r>
          </a:p>
        </p:txBody>
      </p:sp>
    </p:spTree>
    <p:extLst>
      <p:ext uri="{BB962C8B-B14F-4D97-AF65-F5344CB8AC3E}">
        <p14:creationId xmlns:p14="http://schemas.microsoft.com/office/powerpoint/2010/main" val="3021726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58572-318B-CCC6-3585-79D7BF4C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30A1E8-3283-00B2-E6D3-537196E7BE0A}"/>
              </a:ext>
            </a:extLst>
          </p:cNvPr>
          <p:cNvSpPr txBox="1"/>
          <p:nvPr/>
        </p:nvSpPr>
        <p:spPr>
          <a:xfrm>
            <a:off x="338667" y="287865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D8FEC-C82C-406A-FA86-6FC51030BA67}"/>
              </a:ext>
            </a:extLst>
          </p:cNvPr>
          <p:cNvSpPr txBox="1"/>
          <p:nvPr/>
        </p:nvSpPr>
        <p:spPr>
          <a:xfrm>
            <a:off x="338667" y="1135503"/>
            <a:ext cx="115146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1. J. Zheng </a:t>
            </a:r>
            <a:r>
              <a:rPr lang="en-US" i="1" dirty="0"/>
              <a:t>et al.</a:t>
            </a:r>
            <a:r>
              <a:rPr lang="en-US" dirty="0"/>
              <a:t>, "</a:t>
            </a:r>
            <a:r>
              <a:rPr lang="en-US" dirty="0" err="1"/>
              <a:t>CogCartoon</a:t>
            </a:r>
            <a:r>
              <a:rPr lang="en-US" dirty="0"/>
              <a:t>: Towards Practical Story Visualization," </a:t>
            </a:r>
            <a:r>
              <a:rPr lang="en-US" i="1" dirty="0"/>
              <a:t>International Journal of Computer Vision</a:t>
            </a:r>
            <a:r>
              <a:rPr lang="en-US" dirty="0"/>
              <a:t>, 2024, </a:t>
            </a:r>
            <a:r>
              <a:rPr lang="en-US" dirty="0" err="1"/>
              <a:t>doi</a:t>
            </a:r>
            <a:r>
              <a:rPr lang="en-US" dirty="0"/>
              <a:t>: 10.1007/s11263-024-02267-5.</a:t>
            </a:r>
          </a:p>
          <a:p>
            <a:pPr marL="342900" indent="-342900" algn="just">
              <a:buAutoNum type="arabicPeriod"/>
            </a:pPr>
            <a:endParaRPr lang="en-US" dirty="0"/>
          </a:p>
          <a:p>
            <a:pPr algn="just"/>
            <a:r>
              <a:rPr lang="en-US" dirty="0"/>
              <a:t>2. K. Raza, N. Ahmad, and D. Singh, "Chapter Title In Press," in </a:t>
            </a:r>
            <a:r>
              <a:rPr lang="en-US" i="1" dirty="0"/>
              <a:t>Generative AI: Current Trends and Applications</a:t>
            </a:r>
            <a:r>
              <a:rPr lang="en-US" dirty="0"/>
              <a:t>, K. Raza, N. Ahmad, and D. Singh, Eds. Singapore: Springer, 2024, Ch. 25, </a:t>
            </a:r>
            <a:r>
              <a:rPr lang="en-US" dirty="0" err="1"/>
              <a:t>doi</a:t>
            </a:r>
            <a:r>
              <a:rPr lang="en-US" dirty="0"/>
              <a:t>: 10.1007/978-981-96-8197-6_25.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3. K. Stephen </a:t>
            </a:r>
            <a:r>
              <a:rPr lang="en-US" i="1" dirty="0"/>
              <a:t>et al.</a:t>
            </a:r>
            <a:r>
              <a:rPr lang="en-US" dirty="0"/>
              <a:t>, "Compute to Tell the Tale: Goal-Driven Narrative Generation," in </a:t>
            </a:r>
            <a:r>
              <a:rPr lang="en-US" i="1" dirty="0"/>
              <a:t>Proceedings of the 30th ACM International Conference on Multimedia (MM '22)</a:t>
            </a:r>
            <a:r>
              <a:rPr lang="en-US" dirty="0"/>
              <a:t>, New York, NY, USA: ACM, 2022, pp. 783–793, </a:t>
            </a:r>
            <a:r>
              <a:rPr lang="en-US" dirty="0" err="1"/>
              <a:t>doi</a:t>
            </a:r>
            <a:r>
              <a:rPr lang="en-US" dirty="0"/>
              <a:t>: 10.1145/3503161.3549202.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4. M. Tao, B.-K. Bao, H. Tang, Y. Wang, and C. Xu, "</a:t>
            </a:r>
            <a:r>
              <a:rPr lang="en-US" dirty="0" err="1"/>
              <a:t>StoryImager</a:t>
            </a:r>
            <a:r>
              <a:rPr lang="en-US" dirty="0"/>
              <a:t>: A Unified and Efficient Framework for Coherent Story Visualization and Completion," in </a:t>
            </a:r>
            <a:r>
              <a:rPr lang="en-US" i="1" dirty="0"/>
              <a:t>European Conference on Computer Vision (ECCV) 2024</a:t>
            </a:r>
            <a:r>
              <a:rPr lang="en-US" dirty="0"/>
              <a:t>, 2024, </a:t>
            </a:r>
            <a:r>
              <a:rPr lang="en-US" dirty="0" err="1"/>
              <a:t>doi</a:t>
            </a:r>
            <a:r>
              <a:rPr lang="en-US" dirty="0"/>
              <a:t>: 10.1007/978-3-031-72992-8_27.</a:t>
            </a:r>
          </a:p>
          <a:p>
            <a:pPr algn="just"/>
            <a:endParaRPr lang="en-US" dirty="0"/>
          </a:p>
          <a:p>
            <a:pPr algn="just"/>
            <a:r>
              <a:rPr lang="en-IN" dirty="0"/>
              <a:t>5. P. G. S. B. Bhati </a:t>
            </a:r>
            <a:r>
              <a:rPr lang="en-IN" i="1" dirty="0"/>
              <a:t>et al.</a:t>
            </a:r>
            <a:r>
              <a:rPr lang="en-IN" dirty="0"/>
              <a:t>, "FABULA: Intelligence Report Generation Using Retrieval-Augmented Narrative Construction," in </a:t>
            </a:r>
            <a:r>
              <a:rPr lang="en-IN" i="1" dirty="0"/>
              <a:t>2023 IEEE/ACM International Conference on Advances in Social Networks Analysis and Mining (ASONAM)</a:t>
            </a:r>
            <a:r>
              <a:rPr lang="en-IN" dirty="0"/>
              <a:t>, 2023, </a:t>
            </a:r>
            <a:r>
              <a:rPr lang="en-IN" dirty="0" err="1"/>
              <a:t>doi</a:t>
            </a:r>
            <a:r>
              <a:rPr lang="en-IN" dirty="0"/>
              <a:t>: 10.1145/3625007.3627505.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10C894-E4D4-A899-8CD6-2C818FD5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21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D1957-CA37-1CA8-B66C-513C5870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7001-C030-4DC7-A778-741DE26B7EA3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8E57A-45D2-B3E2-C099-553F43ED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589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CB4CF-CC72-5D75-1C23-E5F69EBE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0F0533-7F57-A185-FD5C-DBB02E09409D}"/>
              </a:ext>
            </a:extLst>
          </p:cNvPr>
          <p:cNvSpPr txBox="1"/>
          <p:nvPr/>
        </p:nvSpPr>
        <p:spPr>
          <a:xfrm>
            <a:off x="338667" y="287865"/>
            <a:ext cx="1078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FF9DB-03C4-AAEC-79C8-9CB858EBD4C3}"/>
              </a:ext>
            </a:extLst>
          </p:cNvPr>
          <p:cNvSpPr txBox="1"/>
          <p:nvPr/>
        </p:nvSpPr>
        <p:spPr>
          <a:xfrm>
            <a:off x="338667" y="1135503"/>
            <a:ext cx="115146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6. S. Abdollahi, W. </a:t>
            </a:r>
            <a:r>
              <a:rPr lang="en-US" dirty="0" err="1"/>
              <a:t>Nejdl</a:t>
            </a:r>
            <a:r>
              <a:rPr lang="en-US" dirty="0"/>
              <a:t>, and S. Gottschalk, "Retrieval-Augmented Generation of Event Collections from Web Archives and the Live Web," </a:t>
            </a:r>
            <a:r>
              <a:rPr lang="en-US" i="1" dirty="0"/>
              <a:t>International Journal on Digital Libraries</a:t>
            </a:r>
            <a:r>
              <a:rPr lang="en-US" dirty="0"/>
              <a:t>, 2025, </a:t>
            </a:r>
            <a:r>
              <a:rPr lang="en-US" dirty="0" err="1"/>
              <a:t>doi</a:t>
            </a:r>
            <a:r>
              <a:rPr lang="en-US" dirty="0"/>
              <a:t>: 10.1007/s00799-025-00419-7.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7. S. K. </a:t>
            </a:r>
            <a:r>
              <a:rPr lang="en-IN" dirty="0" err="1"/>
              <a:t>Alhabeeb</a:t>
            </a:r>
            <a:r>
              <a:rPr lang="en-IN" dirty="0"/>
              <a:t> and A. A. Al-</a:t>
            </a:r>
            <a:r>
              <a:rPr lang="en-IN" dirty="0" err="1"/>
              <a:t>Shargabi</a:t>
            </a:r>
            <a:r>
              <a:rPr lang="en-IN" dirty="0"/>
              <a:t>, "Text-to-Image Synthesis With Generative Models: Methods, Datasets, Performance Metrics, Challenges, and Future Direction," </a:t>
            </a:r>
            <a:r>
              <a:rPr lang="en-IN" i="1" dirty="0"/>
              <a:t>IEEE Access</a:t>
            </a:r>
            <a:r>
              <a:rPr lang="en-IN" dirty="0"/>
              <a:t>, vol. 12, pp. 24412–24427, 2024, </a:t>
            </a:r>
            <a:r>
              <a:rPr lang="en-IN" dirty="0" err="1"/>
              <a:t>doi</a:t>
            </a:r>
            <a:r>
              <a:rPr lang="en-IN" dirty="0"/>
              <a:t>: 10.1109/ACCESS.2024.3365043.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8. X. Yang </a:t>
            </a:r>
            <a:r>
              <a:rPr lang="en-IN" i="1" dirty="0"/>
              <a:t>et al.</a:t>
            </a:r>
            <a:r>
              <a:rPr lang="en-IN" dirty="0"/>
              <a:t>, "Automatic Comic Generation with Stylistic Multi-page Layouts and Emotion-driven Text Balloon Generation," </a:t>
            </a:r>
            <a:r>
              <a:rPr lang="en-IN" i="1" dirty="0"/>
              <a:t>ACM Transactions on Multimedia Computing, Communications, and Applications</a:t>
            </a:r>
            <a:r>
              <a:rPr lang="en-IN" dirty="0"/>
              <a:t>, vol. 17, no. 2, pp. 1–28, 2021, </a:t>
            </a:r>
            <a:r>
              <a:rPr lang="en-IN" dirty="0" err="1"/>
              <a:t>doi</a:t>
            </a:r>
            <a:r>
              <a:rPr lang="en-IN" dirty="0"/>
              <a:t>: 10.1145/3440053.</a:t>
            </a:r>
            <a:endParaRPr lang="en-US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9. Y. Lu </a:t>
            </a:r>
            <a:r>
              <a:rPr lang="en-IN" i="1" dirty="0"/>
              <a:t>et al.</a:t>
            </a:r>
            <a:r>
              <a:rPr lang="en-IN" dirty="0"/>
              <a:t>, "Interactive Story Visualization via Multimodal Large Language Models," in </a:t>
            </a:r>
            <a:r>
              <a:rPr lang="en-IN" i="1" dirty="0"/>
              <a:t>European Conference on          Computer Vision (ECCV) 2024</a:t>
            </a:r>
            <a:r>
              <a:rPr lang="en-IN" dirty="0"/>
              <a:t>, 2024, </a:t>
            </a:r>
            <a:r>
              <a:rPr lang="en-IN" dirty="0" err="1"/>
              <a:t>doi</a:t>
            </a:r>
            <a:r>
              <a:rPr lang="en-IN" dirty="0"/>
              <a:t>: 10.1007/978-3-031-73033-7_6.</a:t>
            </a:r>
          </a:p>
          <a:p>
            <a:pPr algn="just"/>
            <a:endParaRPr lang="en-IN" dirty="0"/>
          </a:p>
          <a:p>
            <a:pPr algn="just"/>
            <a:r>
              <a:rPr lang="en-US" dirty="0"/>
              <a:t>10. Z. Zhou </a:t>
            </a:r>
            <a:r>
              <a:rPr lang="en-US" i="1" dirty="0"/>
              <a:t>et al.</a:t>
            </a:r>
            <a:r>
              <a:rPr lang="en-US" dirty="0"/>
              <a:t>, "Multi-Granular Semantic Consistent Story Generation," in </a:t>
            </a:r>
            <a:r>
              <a:rPr lang="en-US" i="1" dirty="0"/>
              <a:t>Proceedings of the 31st ACM International Conference on Multimedia (MM '23)</a:t>
            </a:r>
            <a:r>
              <a:rPr lang="en-US" dirty="0"/>
              <a:t>, New York, NY, USA: ACM, 2023, pp. 1492–1502, </a:t>
            </a:r>
            <a:r>
              <a:rPr lang="en-US" dirty="0" err="1"/>
              <a:t>doi</a:t>
            </a:r>
            <a:r>
              <a:rPr lang="en-US" dirty="0"/>
              <a:t>: 10.1145/3613904.3642803.</a:t>
            </a:r>
          </a:p>
          <a:p>
            <a:pPr algn="just"/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3A755E-6C20-250A-D8FD-34BA703C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78B9-E6D3-4D3F-A408-ABA812CE1303}" type="slidenum">
              <a:rPr lang="en-IN" smtClean="0"/>
              <a:t>22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A99C0-5B17-0084-4169-88FE6896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5CC1-3850-4BA4-B22D-FCECF0F3B077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EE03D-B8F3-DB02-BCBA-E0D2B454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TaleToon: Transforming Cultural Significance into Narrative Visualizations through Comics using Multi modal Deep learning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073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4D4AAC3-A3A3-454B-9265-0ED946BCA6B6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9DD655A-F8F8-480C-AD7D-7DF35A57AC98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1977</TotalTime>
  <Words>2923</Words>
  <Application>Microsoft Office PowerPoint</Application>
  <PresentationFormat>Widescreen</PresentationFormat>
  <Paragraphs>327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Retrospect</vt:lpstr>
      <vt:lpstr>TaleToon: Transforming Cultural Significance into Narrative Visualizations through Comics using Multi modal Deep learning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Swastika Senthilvel</dc:creator>
  <cp:lastModifiedBy>OJASKRISSHNAN S</cp:lastModifiedBy>
  <cp:revision>3</cp:revision>
  <dcterms:created xsi:type="dcterms:W3CDTF">2025-10-10T19:09:55Z</dcterms:created>
  <dcterms:modified xsi:type="dcterms:W3CDTF">2026-01-08T17:05:42Z</dcterms:modified>
</cp:coreProperties>
</file>