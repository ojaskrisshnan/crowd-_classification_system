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handoutMasterIdLst>
    <p:handoutMasterId r:id="rId18"/>
  </p:handoutMasterIdLst>
  <p:sldIdLst>
    <p:sldId id="274" r:id="rId2"/>
    <p:sldId id="256" r:id="rId3"/>
    <p:sldId id="257" r:id="rId4"/>
    <p:sldId id="267" r:id="rId5"/>
    <p:sldId id="268" r:id="rId6"/>
    <p:sldId id="283" r:id="rId7"/>
    <p:sldId id="269" r:id="rId8"/>
    <p:sldId id="275" r:id="rId9"/>
    <p:sldId id="261" r:id="rId10"/>
    <p:sldId id="277" r:id="rId11"/>
    <p:sldId id="278" r:id="rId12"/>
    <p:sldId id="280" r:id="rId13"/>
    <p:sldId id="281" r:id="rId14"/>
    <p:sldId id="271" r:id="rId15"/>
    <p:sldId id="282" r:id="rId16"/>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436E4E-07CC-468E-8311-410845693A9B}" v="7" dt="2026-01-09T05:43:55.9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49" d="100"/>
          <a:sy n="49" d="100"/>
        </p:scale>
        <p:origin x="9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8B79E8-F8F3-3599-CF04-A8CB7E87F085}"/>
              </a:ext>
            </a:extLst>
          </p:cNvPr>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865C0B8-240D-B4BD-0851-583F420637B7}"/>
              </a:ext>
            </a:extLst>
          </p:cNvPr>
          <p:cNvSpPr>
            <a:spLocks noGrp="1"/>
          </p:cNvSpPr>
          <p:nvPr>
            <p:ph type="dt" sz="quarter" idx="1"/>
          </p:nvPr>
        </p:nvSpPr>
        <p:spPr>
          <a:xfrm>
            <a:off x="4660900" y="0"/>
            <a:ext cx="3567113" cy="733425"/>
          </a:xfrm>
          <a:prstGeom prst="rect">
            <a:avLst/>
          </a:prstGeom>
        </p:spPr>
        <p:txBody>
          <a:bodyPr vert="horz" lIns="91440" tIns="45720" rIns="91440" bIns="45720" rtlCol="0"/>
          <a:lstStyle>
            <a:lvl1pPr algn="r">
              <a:defRPr sz="1200"/>
            </a:lvl1pPr>
          </a:lstStyle>
          <a:p>
            <a:fld id="{B578212A-F8AC-4E48-A390-9C0450BC7D70}" type="datetimeFigureOut">
              <a:rPr lang="en-IN" smtClean="0"/>
              <a:t>09-01-2026</a:t>
            </a:fld>
            <a:endParaRPr lang="en-IN"/>
          </a:p>
        </p:txBody>
      </p:sp>
      <p:sp>
        <p:nvSpPr>
          <p:cNvPr id="4" name="Footer Placeholder 3">
            <a:extLst>
              <a:ext uri="{FF2B5EF4-FFF2-40B4-BE49-F238E27FC236}">
                <a16:creationId xmlns:a16="http://schemas.microsoft.com/office/drawing/2014/main" id="{EDD67F1B-7788-0735-CF1A-B22FB41BCAAE}"/>
              </a:ext>
            </a:extLst>
          </p:cNvPr>
          <p:cNvSpPr>
            <a:spLocks noGrp="1"/>
          </p:cNvSpPr>
          <p:nvPr>
            <p:ph type="ftr" sz="quarter" idx="2"/>
          </p:nvPr>
        </p:nvSpPr>
        <p:spPr>
          <a:xfrm>
            <a:off x="0" y="13896975"/>
            <a:ext cx="3565525" cy="733425"/>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742B7730-4100-DF69-DDDA-B826669AC870}"/>
              </a:ext>
            </a:extLst>
          </p:cNvPr>
          <p:cNvSpPr>
            <a:spLocks noGrp="1"/>
          </p:cNvSpPr>
          <p:nvPr>
            <p:ph type="sldNum" sz="quarter" idx="3"/>
          </p:nvPr>
        </p:nvSpPr>
        <p:spPr>
          <a:xfrm>
            <a:off x="4660900" y="13896975"/>
            <a:ext cx="3567113" cy="733425"/>
          </a:xfrm>
          <a:prstGeom prst="rect">
            <a:avLst/>
          </a:prstGeom>
        </p:spPr>
        <p:txBody>
          <a:bodyPr vert="horz" lIns="91440" tIns="45720" rIns="91440" bIns="45720" rtlCol="0" anchor="b"/>
          <a:lstStyle>
            <a:lvl1pPr algn="r">
              <a:defRPr sz="1200"/>
            </a:lvl1pPr>
          </a:lstStyle>
          <a:p>
            <a:fld id="{3BC200C1-0698-4A4A-987B-A3BF1B174CC4}" type="slidenum">
              <a:rPr lang="en-IN" smtClean="0"/>
              <a:t>‹#›</a:t>
            </a:fld>
            <a:endParaRPr lang="en-IN"/>
          </a:p>
        </p:txBody>
      </p:sp>
    </p:spTree>
    <p:extLst>
      <p:ext uri="{BB962C8B-B14F-4D97-AF65-F5344CB8AC3E}">
        <p14:creationId xmlns:p14="http://schemas.microsoft.com/office/powerpoint/2010/main" val="252465164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536533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txBody>
          <a:bodyPr/>
          <a:lstStyle/>
          <a:p>
            <a:endParaRPr lang="en-IN"/>
          </a:p>
        </p:txBody>
      </p:sp>
      <p:sp>
        <p:nvSpPr>
          <p:cNvPr id="3" name="Shape 1"/>
          <p:cNvSpPr/>
          <p:nvPr/>
        </p:nvSpPr>
        <p:spPr>
          <a:xfrm>
            <a:off x="0" y="0"/>
            <a:ext cx="14630400" cy="8229600"/>
          </a:xfrm>
          <a:prstGeom prst="rect">
            <a:avLst/>
          </a:prstGeom>
          <a:solidFill>
            <a:srgbClr val="FFFFFF">
              <a:alpha val="95000"/>
            </a:srgbClr>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txBody>
          <a:bodyPr/>
          <a:lstStyle/>
          <a:p>
            <a:endParaRPr lang="en-IN"/>
          </a:p>
        </p:txBody>
      </p:sp>
      <p:sp>
        <p:nvSpPr>
          <p:cNvPr id="3" name="Shape 1"/>
          <p:cNvSpPr/>
          <p:nvPr/>
        </p:nvSpPr>
        <p:spPr>
          <a:xfrm>
            <a:off x="0" y="0"/>
            <a:ext cx="14630400" cy="8229600"/>
          </a:xfrm>
          <a:prstGeom prst="rect">
            <a:avLst/>
          </a:prstGeom>
          <a:solidFill>
            <a:srgbClr val="FFFFFF">
              <a:alpha val="95000"/>
            </a:srgbClr>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B1EBC2-ECAB-49EC-1B0B-4403704AFEC0}"/>
              </a:ext>
            </a:extLst>
          </p:cNvPr>
          <p:cNvSpPr txBox="1"/>
          <p:nvPr/>
        </p:nvSpPr>
        <p:spPr>
          <a:xfrm>
            <a:off x="1662242" y="2334214"/>
            <a:ext cx="11170023" cy="1569660"/>
          </a:xfrm>
          <a:prstGeom prst="rect">
            <a:avLst/>
          </a:prstGeom>
          <a:noFill/>
        </p:spPr>
        <p:txBody>
          <a:bodyPr wrap="square" rtlCol="0">
            <a:spAutoFit/>
          </a:bodyPr>
          <a:lstStyle/>
          <a:p>
            <a:pPr algn="ctr"/>
            <a:r>
              <a:rPr lang="en-US" sz="4800" dirty="0">
                <a:latin typeface="Times New Roman" panose="02020603050405020304" pitchFamily="18" charset="0"/>
                <a:cs typeface="Times New Roman" panose="02020603050405020304" pitchFamily="18" charset="0"/>
              </a:rPr>
              <a:t>VIDEO BASED CROWD ESTIMATION USING YOLO</a:t>
            </a:r>
            <a:endParaRPr lang="en-IN" sz="4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9C8FB67-654C-8841-CA0B-397481F39BAA}"/>
              </a:ext>
            </a:extLst>
          </p:cNvPr>
          <p:cNvSpPr txBox="1"/>
          <p:nvPr/>
        </p:nvSpPr>
        <p:spPr>
          <a:xfrm>
            <a:off x="9832745" y="5553308"/>
            <a:ext cx="5151863" cy="196977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TEAM MEMBERS:</a:t>
            </a:r>
          </a:p>
          <a:p>
            <a:endParaRPr lang="en-US"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KIRUPA V                    -2023103039</a:t>
            </a:r>
          </a:p>
          <a:p>
            <a:r>
              <a:rPr lang="en-US" sz="2000" dirty="0">
                <a:latin typeface="Times New Roman" panose="02020603050405020304" pitchFamily="18" charset="0"/>
                <a:cs typeface="Times New Roman" panose="02020603050405020304" pitchFamily="18" charset="0"/>
              </a:rPr>
              <a:t>OJASKRISSHNAN S   -2023103626</a:t>
            </a:r>
          </a:p>
          <a:p>
            <a:r>
              <a:rPr lang="en-US" sz="2000" dirty="0">
                <a:latin typeface="Times New Roman" panose="02020603050405020304" pitchFamily="18" charset="0"/>
                <a:cs typeface="Times New Roman" panose="02020603050405020304" pitchFamily="18" charset="0"/>
              </a:rPr>
              <a:t>SINDHULAKSHMI E  -2023103587</a:t>
            </a:r>
          </a:p>
          <a:p>
            <a:r>
              <a:rPr lang="en-US" sz="2000" dirty="0">
                <a:latin typeface="Times New Roman" panose="02020603050405020304" pitchFamily="18" charset="0"/>
                <a:cs typeface="Times New Roman" panose="02020603050405020304" pitchFamily="18" charset="0"/>
              </a:rPr>
              <a:t>SHIYAMALADEVI J    -2023103066</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A5D99D9-92C9-EF38-4ACF-63834E58DAB1}"/>
              </a:ext>
            </a:extLst>
          </p:cNvPr>
          <p:cNvPicPr>
            <a:picLocks noChangeAspect="1"/>
          </p:cNvPicPr>
          <p:nvPr/>
        </p:nvPicPr>
        <p:blipFill>
          <a:blip r:embed="rId2"/>
          <a:stretch>
            <a:fillRect/>
          </a:stretch>
        </p:blipFill>
        <p:spPr>
          <a:xfrm>
            <a:off x="1995958" y="609000"/>
            <a:ext cx="1356478" cy="1280271"/>
          </a:xfrm>
          <a:prstGeom prst="rect">
            <a:avLst/>
          </a:prstGeom>
        </p:spPr>
      </p:pic>
      <p:pic>
        <p:nvPicPr>
          <p:cNvPr id="5" name="Picture 4">
            <a:extLst>
              <a:ext uri="{FF2B5EF4-FFF2-40B4-BE49-F238E27FC236}">
                <a16:creationId xmlns:a16="http://schemas.microsoft.com/office/drawing/2014/main" id="{2CD55272-2804-0FA2-631F-8A3AAE210BF9}"/>
              </a:ext>
            </a:extLst>
          </p:cNvPr>
          <p:cNvPicPr>
            <a:picLocks noChangeAspect="1"/>
          </p:cNvPicPr>
          <p:nvPr/>
        </p:nvPicPr>
        <p:blipFill>
          <a:blip r:embed="rId3"/>
          <a:stretch>
            <a:fillRect/>
          </a:stretch>
        </p:blipFill>
        <p:spPr>
          <a:xfrm>
            <a:off x="11585646" y="626089"/>
            <a:ext cx="1646063" cy="1341236"/>
          </a:xfrm>
          <a:prstGeom prst="rect">
            <a:avLst/>
          </a:prstGeom>
        </p:spPr>
      </p:pic>
      <p:sp>
        <p:nvSpPr>
          <p:cNvPr id="7" name="TextBox 6">
            <a:extLst>
              <a:ext uri="{FF2B5EF4-FFF2-40B4-BE49-F238E27FC236}">
                <a16:creationId xmlns:a16="http://schemas.microsoft.com/office/drawing/2014/main" id="{0846E818-D535-A941-7039-B9E654D4FBCE}"/>
              </a:ext>
            </a:extLst>
          </p:cNvPr>
          <p:cNvSpPr txBox="1"/>
          <p:nvPr/>
        </p:nvSpPr>
        <p:spPr>
          <a:xfrm>
            <a:off x="2548054" y="744553"/>
            <a:ext cx="9534292" cy="1569660"/>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        Department of Computer Science and Engineering</a:t>
            </a:r>
            <a:r>
              <a:rPr lang="en-US" sz="2400" b="1" dirty="0">
                <a:latin typeface="Times New Roman" panose="02020603050405020304" pitchFamily="18" charset="0"/>
                <a:ea typeface="Calibri" panose="020F0502020204030204"/>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College  of  Engineering, Guindy</a:t>
            </a:r>
            <a:r>
              <a:rPr lang="en-US" sz="2400" b="1" dirty="0">
                <a:latin typeface="Times New Roman" panose="02020603050405020304" pitchFamily="18" charset="0"/>
                <a:ea typeface="Calibri" panose="020F0502020204030204"/>
                <a:cs typeface="Times New Roman" panose="02020603050405020304" pitchFamily="18" charset="0"/>
              </a:rPr>
              <a:t> </a:t>
            </a:r>
          </a:p>
          <a:p>
            <a:r>
              <a:rPr lang="en-US" sz="2400" b="1" dirty="0">
                <a:latin typeface="Times New Roman" panose="02020603050405020304" pitchFamily="18" charset="0"/>
                <a:cs typeface="Times New Roman" panose="02020603050405020304" pitchFamily="18" charset="0"/>
              </a:rPr>
              <a:t>                                    Anna University, Chennai-25</a:t>
            </a:r>
            <a:br>
              <a:rPr lang="en-US" sz="2400" b="1" dirty="0">
                <a:latin typeface="Times New Roman" panose="02020603050405020304" pitchFamily="18" charset="0"/>
                <a:ea typeface="Calibri" panose="020F0502020204030204"/>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cxnSp>
        <p:nvCxnSpPr>
          <p:cNvPr id="16" name="Straight Connector 15">
            <a:extLst>
              <a:ext uri="{FF2B5EF4-FFF2-40B4-BE49-F238E27FC236}">
                <a16:creationId xmlns:a16="http://schemas.microsoft.com/office/drawing/2014/main" id="{0ECD4B86-3E6D-1F27-A5AC-F76711B0A84E}"/>
              </a:ext>
            </a:extLst>
          </p:cNvPr>
          <p:cNvCxnSpPr>
            <a:cxnSpLocks/>
          </p:cNvCxnSpPr>
          <p:nvPr/>
        </p:nvCxnSpPr>
        <p:spPr>
          <a:xfrm>
            <a:off x="2674197" y="2189796"/>
            <a:ext cx="9734481" cy="0"/>
          </a:xfrm>
          <a:prstGeom prst="line">
            <a:avLst/>
          </a:prstGeom>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CF3C6EEE-D3F1-9C38-C395-3C701DF789A1}"/>
              </a:ext>
            </a:extLst>
          </p:cNvPr>
          <p:cNvSpPr txBox="1"/>
          <p:nvPr/>
        </p:nvSpPr>
        <p:spPr>
          <a:xfrm>
            <a:off x="3657599" y="3868768"/>
            <a:ext cx="7761249" cy="461665"/>
          </a:xfrm>
          <a:prstGeom prst="rect">
            <a:avLst/>
          </a:prstGeom>
          <a:noFill/>
        </p:spPr>
        <p:txBody>
          <a:bodyPr wrap="square">
            <a:spAutoFit/>
          </a:bodyPr>
          <a:lstStyle/>
          <a:p>
            <a:r>
              <a:rPr lang="en-GB" sz="2400" b="1" dirty="0">
                <a:latin typeface="Times New Roman" panose="02020603050405020304" pitchFamily="18" charset="0"/>
                <a:cs typeface="Times New Roman" panose="02020603050405020304" pitchFamily="18" charset="0"/>
              </a:rPr>
              <a:t>CS23604 – CREATIVE AND INNOVATIVE PROJECT</a:t>
            </a:r>
          </a:p>
        </p:txBody>
      </p:sp>
      <p:sp>
        <p:nvSpPr>
          <p:cNvPr id="19" name="TextBox 18">
            <a:extLst>
              <a:ext uri="{FF2B5EF4-FFF2-40B4-BE49-F238E27FC236}">
                <a16:creationId xmlns:a16="http://schemas.microsoft.com/office/drawing/2014/main" id="{222710E9-CEA8-2623-023F-A9B2BB5252AF}"/>
              </a:ext>
            </a:extLst>
          </p:cNvPr>
          <p:cNvSpPr txBox="1"/>
          <p:nvPr/>
        </p:nvSpPr>
        <p:spPr>
          <a:xfrm>
            <a:off x="1180990" y="5553308"/>
            <a:ext cx="6066263" cy="138499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GUIDE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Dr. M. S. Karthika Devi,</a:t>
            </a:r>
          </a:p>
          <a:p>
            <a:r>
              <a:rPr lang="en-US" sz="2000" dirty="0">
                <a:latin typeface="Times New Roman" panose="02020603050405020304" pitchFamily="18" charset="0"/>
                <a:cs typeface="Times New Roman" panose="02020603050405020304" pitchFamily="18" charset="0"/>
              </a:rPr>
              <a:t>DCSE, College of Engineering, Guindy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8135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89" y="712708"/>
            <a:ext cx="7556421" cy="1417558"/>
          </a:xfrm>
          <a:prstGeom prst="rect">
            <a:avLst/>
          </a:prstGeom>
          <a:noFill/>
          <a:ln/>
        </p:spPr>
        <p:txBody>
          <a:bodyPr wrap="square" lIns="0" tIns="0" rIns="0" bIns="0" rtlCol="0" anchor="t"/>
          <a:lstStyle/>
          <a:p>
            <a:pPr marL="0" indent="0" algn="l">
              <a:lnSpc>
                <a:spcPts val="5550"/>
              </a:lnSpc>
              <a:buNone/>
            </a:pPr>
            <a:r>
              <a:rPr lang="en-US" sz="4800" dirty="0">
                <a:solidFill>
                  <a:srgbClr val="1B1B27"/>
                </a:solidFill>
                <a:latin typeface="Times New Roman" panose="02020603050405020304" pitchFamily="18" charset="0"/>
                <a:ea typeface="Raleway" pitchFamily="34" charset="-122"/>
                <a:cs typeface="Times New Roman" panose="02020603050405020304" pitchFamily="18" charset="0"/>
              </a:rPr>
              <a:t>Introduction</a:t>
            </a:r>
            <a:endParaRPr lang="en-US" sz="4800" dirty="0">
              <a:latin typeface="Times New Roman" panose="02020603050405020304" pitchFamily="18" charset="0"/>
              <a:cs typeface="Times New Roman" panose="02020603050405020304" pitchFamily="18" charset="0"/>
            </a:endParaRPr>
          </a:p>
        </p:txBody>
      </p:sp>
      <p:sp>
        <p:nvSpPr>
          <p:cNvPr id="4" name="Text 1"/>
          <p:cNvSpPr/>
          <p:nvPr/>
        </p:nvSpPr>
        <p:spPr>
          <a:xfrm>
            <a:off x="781758" y="2481256"/>
            <a:ext cx="7556421" cy="4605344"/>
          </a:xfrm>
          <a:prstGeom prst="rect">
            <a:avLst/>
          </a:prstGeom>
          <a:noFill/>
          <a:ln/>
        </p:spPr>
        <p:txBody>
          <a:bodyPr wrap="square" lIns="0" tIns="0" rIns="0" bIns="0" rtlCol="0" anchor="t"/>
          <a:lstStyle/>
          <a:p>
            <a:pPr marL="342900" indent="-342900" algn="l">
              <a:lnSpc>
                <a:spcPts val="2850"/>
              </a:lnSpc>
              <a:buFont typeface="Arial" panose="020B0604020202020204" pitchFamily="34" charset="0"/>
              <a:buChar char="•"/>
            </a:pPr>
            <a:r>
              <a:rPr lang="en-US" sz="2000" dirty="0">
                <a:solidFill>
                  <a:srgbClr val="3C3939"/>
                </a:solidFill>
                <a:latin typeface="Times New Roman" panose="02020603050405020304" pitchFamily="18" charset="0"/>
                <a:ea typeface="Roboto" pitchFamily="34" charset="-122"/>
                <a:cs typeface="Times New Roman" panose="02020603050405020304" pitchFamily="18" charset="0"/>
              </a:rPr>
              <a:t>Video surveillance systems continuously capture large volumes of visual data but rely heavily on manual human monitoring. </a:t>
            </a:r>
          </a:p>
          <a:p>
            <a:pPr marL="342900" indent="-342900" algn="l">
              <a:lnSpc>
                <a:spcPts val="2850"/>
              </a:lnSpc>
              <a:buFont typeface="Arial" panose="020B0604020202020204" pitchFamily="34" charset="0"/>
              <a:buChar char="•"/>
            </a:pPr>
            <a:r>
              <a:rPr lang="en-US" sz="2000" dirty="0">
                <a:solidFill>
                  <a:srgbClr val="3C3939"/>
                </a:solidFill>
                <a:latin typeface="Times New Roman" panose="02020603050405020304" pitchFamily="18" charset="0"/>
                <a:ea typeface="Roboto" pitchFamily="34" charset="-122"/>
                <a:cs typeface="Times New Roman" panose="02020603050405020304" pitchFamily="18" charset="0"/>
              </a:rPr>
              <a:t>Such systems lack automated mechanisms to provide quantitative crowd information such as people count and density levels.</a:t>
            </a:r>
          </a:p>
          <a:p>
            <a:pPr marL="342900" indent="-342900" algn="l">
              <a:lnSpc>
                <a:spcPts val="2850"/>
              </a:lnSpc>
              <a:buFont typeface="Arial" panose="020B0604020202020204" pitchFamily="34" charset="0"/>
              <a:buChar char="•"/>
            </a:pPr>
            <a:r>
              <a:rPr lang="en-US" sz="2000" dirty="0">
                <a:solidFill>
                  <a:srgbClr val="3C3939"/>
                </a:solidFill>
                <a:latin typeface="Times New Roman" panose="02020603050405020304" pitchFamily="18" charset="0"/>
                <a:ea typeface="Roboto" pitchFamily="34" charset="-122"/>
                <a:cs typeface="Times New Roman" panose="02020603050405020304" pitchFamily="18" charset="0"/>
              </a:rPr>
              <a:t>Advancements in computer vision and deep learning enable automated detection and analysis of individuals in complex scenes. </a:t>
            </a:r>
          </a:p>
          <a:p>
            <a:pPr marL="342900" indent="-342900" algn="l">
              <a:lnSpc>
                <a:spcPts val="2850"/>
              </a:lnSpc>
              <a:buFont typeface="Arial" panose="020B0604020202020204" pitchFamily="34" charset="0"/>
              <a:buChar char="•"/>
            </a:pPr>
            <a:r>
              <a:rPr lang="en-US" sz="2000" dirty="0">
                <a:solidFill>
                  <a:srgbClr val="3C3939"/>
                </a:solidFill>
                <a:latin typeface="Times New Roman" panose="02020603050405020304" pitchFamily="18" charset="0"/>
                <a:ea typeface="Roboto" pitchFamily="34" charset="-122"/>
                <a:cs typeface="Times New Roman" panose="02020603050405020304" pitchFamily="18" charset="0"/>
              </a:rPr>
              <a:t>Object detection models such as YOLO (You Only Look Once) offer real-time performance suitable for surveillance applications.</a:t>
            </a:r>
          </a:p>
          <a:p>
            <a:pPr marL="342900" indent="-342900" algn="l">
              <a:lnSpc>
                <a:spcPts val="2850"/>
              </a:lnSpc>
              <a:buFont typeface="Arial" panose="020B0604020202020204" pitchFamily="34" charset="0"/>
              <a:buChar char="•"/>
            </a:pPr>
            <a:r>
              <a:rPr lang="en-US" sz="2000" dirty="0">
                <a:solidFill>
                  <a:srgbClr val="3C3939"/>
                </a:solidFill>
                <a:latin typeface="Times New Roman" panose="02020603050405020304" pitchFamily="18" charset="0"/>
                <a:ea typeface="Roboto" pitchFamily="34" charset="-122"/>
                <a:cs typeface="Times New Roman" panose="02020603050405020304" pitchFamily="18" charset="0"/>
              </a:rPr>
              <a:t> This project presents a video-based crowd estimation system that detects, counts, and classifies crowd density using CCTV footage and image datasets.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1142706" y="983689"/>
            <a:ext cx="5670590" cy="708779"/>
          </a:xfrm>
          <a:prstGeom prst="rect">
            <a:avLst/>
          </a:prstGeom>
          <a:noFill/>
          <a:ln/>
        </p:spPr>
        <p:txBody>
          <a:bodyPr wrap="none" lIns="0" tIns="0" rIns="0" bIns="0" rtlCol="0" anchor="t"/>
          <a:lstStyle/>
          <a:p>
            <a:pPr marL="0" indent="0" algn="l">
              <a:lnSpc>
                <a:spcPts val="5550"/>
              </a:lnSpc>
              <a:buNone/>
            </a:pPr>
            <a:r>
              <a:rPr lang="en-US" sz="4800" dirty="0">
                <a:solidFill>
                  <a:srgbClr val="1B1B27"/>
                </a:solidFill>
                <a:latin typeface="Times New Roman" panose="02020603050405020304" pitchFamily="18" charset="0"/>
                <a:ea typeface="Raleway" pitchFamily="34" charset="-122"/>
                <a:cs typeface="Times New Roman" panose="02020603050405020304" pitchFamily="18" charset="0"/>
              </a:rPr>
              <a:t>Problem Statement</a:t>
            </a:r>
            <a:endParaRPr lang="en-US" sz="4800" dirty="0">
              <a:latin typeface="Times New Roman" panose="02020603050405020304" pitchFamily="18" charset="0"/>
              <a:cs typeface="Times New Roman" panose="02020603050405020304" pitchFamily="18" charset="0"/>
            </a:endParaRPr>
          </a:p>
        </p:txBody>
      </p:sp>
      <p:sp>
        <p:nvSpPr>
          <p:cNvPr id="4" name="Text 1"/>
          <p:cNvSpPr/>
          <p:nvPr/>
        </p:nvSpPr>
        <p:spPr>
          <a:xfrm>
            <a:off x="1142706" y="3019595"/>
            <a:ext cx="7556421" cy="2903220"/>
          </a:xfrm>
          <a:prstGeom prst="rect">
            <a:avLst/>
          </a:prstGeom>
          <a:noFill/>
          <a:ln/>
        </p:spPr>
        <p:txBody>
          <a:bodyPr wrap="square" lIns="0" tIns="0" rIns="0" bIns="0" rtlCol="0" anchor="t"/>
          <a:lstStyle/>
          <a:p>
            <a:pPr marL="0" indent="0" algn="l">
              <a:lnSpc>
                <a:spcPts val="2850"/>
              </a:lnSpc>
              <a:buNone/>
            </a:pPr>
            <a:r>
              <a:rPr lang="en-US" sz="2000" dirty="0">
                <a:solidFill>
                  <a:srgbClr val="3C3939"/>
                </a:solidFill>
                <a:latin typeface="Times New Roman" panose="02020603050405020304" pitchFamily="18" charset="0"/>
                <a:ea typeface="Roboto" pitchFamily="34" charset="-122"/>
                <a:cs typeface="Times New Roman" panose="02020603050405020304" pitchFamily="18" charset="0"/>
              </a:rPr>
              <a:t>Manual CCTV surveillance cannot provide accurate real-time numerical crowd estimation. Human operators struggle to estimate crowd density during peak and congested conditions. Traditional image-based counting methods fail due to occlusion, scale variation, and overlapping individuals. Existing systems often require complex retraining or extensive annotations. Therefore, an automated video-based crowd estimation system is required for reliable detection, counting, and density classification.</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858ECE-EC8B-EED9-3BD1-9AF578B5518A}"/>
              </a:ext>
            </a:extLst>
          </p:cNvPr>
          <p:cNvPicPr>
            <a:picLocks noChangeAspect="1"/>
          </p:cNvPicPr>
          <p:nvPr/>
        </p:nvPicPr>
        <p:blipFill>
          <a:blip r:embed="rId2"/>
          <a:stretch>
            <a:fillRect/>
          </a:stretch>
        </p:blipFill>
        <p:spPr>
          <a:xfrm>
            <a:off x="902368" y="811320"/>
            <a:ext cx="11309365" cy="6888889"/>
          </a:xfrm>
          <a:prstGeom prst="rect">
            <a:avLst/>
          </a:prstGeom>
        </p:spPr>
      </p:pic>
    </p:spTree>
    <p:extLst>
      <p:ext uri="{BB962C8B-B14F-4D97-AF65-F5344CB8AC3E}">
        <p14:creationId xmlns:p14="http://schemas.microsoft.com/office/powerpoint/2010/main" val="2331807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D7E2AA-B1F6-DD50-8A2B-4F11C4F3E1C4}"/>
              </a:ext>
            </a:extLst>
          </p:cNvPr>
          <p:cNvPicPr>
            <a:picLocks noChangeAspect="1"/>
          </p:cNvPicPr>
          <p:nvPr/>
        </p:nvPicPr>
        <p:blipFill>
          <a:blip r:embed="rId2"/>
          <a:stretch>
            <a:fillRect/>
          </a:stretch>
        </p:blipFill>
        <p:spPr>
          <a:xfrm>
            <a:off x="0" y="1"/>
            <a:ext cx="14630400" cy="8229600"/>
          </a:xfrm>
          <a:prstGeom prst="rect">
            <a:avLst/>
          </a:prstGeom>
        </p:spPr>
      </p:pic>
    </p:spTree>
    <p:extLst>
      <p:ext uri="{BB962C8B-B14F-4D97-AF65-F5344CB8AC3E}">
        <p14:creationId xmlns:p14="http://schemas.microsoft.com/office/powerpoint/2010/main" val="2029597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9B340A-0A8F-1CA8-CDAA-D4372F42BBB1}"/>
              </a:ext>
            </a:extLst>
          </p:cNvPr>
          <p:cNvSpPr txBox="1"/>
          <p:nvPr/>
        </p:nvSpPr>
        <p:spPr>
          <a:xfrm>
            <a:off x="745958" y="969276"/>
            <a:ext cx="7411452" cy="5324535"/>
          </a:xfrm>
          <a:prstGeom prst="rect">
            <a:avLst/>
          </a:prstGeom>
          <a:noFill/>
        </p:spPr>
        <p:txBody>
          <a:bodyPr wrap="square">
            <a:spAutoFit/>
          </a:bodyPr>
          <a:lstStyle/>
          <a:p>
            <a:pPr>
              <a:buNone/>
            </a:pPr>
            <a:r>
              <a:rPr lang="en-US" sz="4800" dirty="0">
                <a:latin typeface="Times New Roman" panose="02020603050405020304" pitchFamily="18" charset="0"/>
                <a:cs typeface="Times New Roman" panose="02020603050405020304" pitchFamily="18" charset="0"/>
              </a:rPr>
              <a:t>Proposed Work</a:t>
            </a:r>
          </a:p>
          <a:p>
            <a:pPr>
              <a:buNone/>
            </a:pPr>
            <a:endParaRPr lang="en-US" b="1" dirty="0">
              <a:latin typeface="Times New Roman" panose="02020603050405020304" pitchFamily="18" charset="0"/>
              <a:cs typeface="Times New Roman" panose="02020603050405020304" pitchFamily="18" charset="0"/>
            </a:endParaRPr>
          </a:p>
          <a:p>
            <a:pPr>
              <a:buNone/>
            </a:pPr>
            <a:endParaRPr lang="en-US" b="1" dirty="0">
              <a:latin typeface="Times New Roman" panose="02020603050405020304" pitchFamily="18" charset="0"/>
              <a:cs typeface="Times New Roman" panose="02020603050405020304" pitchFamily="18" charset="0"/>
            </a:endParaRPr>
          </a:p>
          <a:p>
            <a:pPr>
              <a:buNone/>
            </a:pPr>
            <a:endParaRPr lang="en-US" b="1" dirty="0">
              <a:latin typeface="Times New Roman" panose="02020603050405020304" pitchFamily="18" charset="0"/>
              <a:cs typeface="Times New Roman" panose="02020603050405020304" pitchFamily="18" charset="0"/>
            </a:endParaRPr>
          </a:p>
          <a:p>
            <a:pPr>
              <a:buNone/>
            </a:pPr>
            <a:endParaRPr lang="en-US" b="1"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 Develop a video-based crowd estimation framework using deep learning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Extract frames from CCTV video and preprocess them for analysis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Detect individuals using a pre-trained YOLO person detection model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Perform frame-wise people counting based on detected bounding boxes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Classify crowd density into predefined levels using rule-based thresholds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Generate annotated video output with people count and density labels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Evaluate system performance using accuracy, robustness, and efficiency metrics</a:t>
            </a:r>
          </a:p>
        </p:txBody>
      </p:sp>
      <p:pic>
        <p:nvPicPr>
          <p:cNvPr id="4" name="Image 0">
            <a:extLst>
              <a:ext uri="{FF2B5EF4-FFF2-40B4-BE49-F238E27FC236}">
                <a16:creationId xmlns:a16="http://schemas.microsoft.com/office/drawing/2014/main" id="{A8EB8B4F-6C76-CB3B-BB75-814A34E6E663}"/>
              </a:ext>
            </a:extLst>
          </p:cNvPr>
          <p:cNvPicPr>
            <a:picLocks noChangeAspect="1"/>
          </p:cNvPicPr>
          <p:nvPr/>
        </p:nvPicPr>
        <p:blipFill>
          <a:blip r:embed="rId2"/>
          <a:stretch>
            <a:fillRect/>
          </a:stretch>
        </p:blipFill>
        <p:spPr>
          <a:xfrm>
            <a:off x="9144000" y="0"/>
            <a:ext cx="5486400" cy="8229600"/>
          </a:xfrm>
          <a:prstGeom prst="rect">
            <a:avLst/>
          </a:prstGeom>
        </p:spPr>
      </p:pic>
    </p:spTree>
    <p:extLst>
      <p:ext uri="{BB962C8B-B14F-4D97-AF65-F5344CB8AC3E}">
        <p14:creationId xmlns:p14="http://schemas.microsoft.com/office/powerpoint/2010/main" val="2856673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12B069-D067-9EDE-9866-FBCA37D54C90}"/>
              </a:ext>
            </a:extLst>
          </p:cNvPr>
          <p:cNvPicPr>
            <a:picLocks noChangeAspect="1"/>
          </p:cNvPicPr>
          <p:nvPr/>
        </p:nvPicPr>
        <p:blipFill>
          <a:blip r:embed="rId2"/>
          <a:stretch>
            <a:fillRect/>
          </a:stretch>
        </p:blipFill>
        <p:spPr>
          <a:xfrm>
            <a:off x="685800" y="1227221"/>
            <a:ext cx="13258800" cy="7002379"/>
          </a:xfrm>
          <a:prstGeom prst="rect">
            <a:avLst/>
          </a:prstGeom>
        </p:spPr>
      </p:pic>
      <p:sp>
        <p:nvSpPr>
          <p:cNvPr id="8" name="TextBox 7">
            <a:extLst>
              <a:ext uri="{FF2B5EF4-FFF2-40B4-BE49-F238E27FC236}">
                <a16:creationId xmlns:a16="http://schemas.microsoft.com/office/drawing/2014/main" id="{506F3B0C-B51A-A84E-9711-F5CC5A0B33D5}"/>
              </a:ext>
            </a:extLst>
          </p:cNvPr>
          <p:cNvSpPr txBox="1"/>
          <p:nvPr/>
        </p:nvSpPr>
        <p:spPr>
          <a:xfrm>
            <a:off x="685800" y="104637"/>
            <a:ext cx="10996863"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Architecture diagram:</a:t>
            </a:r>
            <a:endParaRPr lang="en-IN"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4449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D353DA-2160-CA32-BEEF-458C07CE62D5}"/>
              </a:ext>
            </a:extLst>
          </p:cNvPr>
          <p:cNvPicPr>
            <a:picLocks noChangeAspect="1"/>
          </p:cNvPicPr>
          <p:nvPr/>
        </p:nvPicPr>
        <p:blipFill>
          <a:blip r:embed="rId2"/>
          <a:stretch>
            <a:fillRect/>
          </a:stretch>
        </p:blipFill>
        <p:spPr>
          <a:xfrm>
            <a:off x="0" y="0"/>
            <a:ext cx="14630400" cy="7579895"/>
          </a:xfrm>
          <a:prstGeom prst="rect">
            <a:avLst/>
          </a:prstGeom>
        </p:spPr>
      </p:pic>
    </p:spTree>
    <p:extLst>
      <p:ext uri="{BB962C8B-B14F-4D97-AF65-F5344CB8AC3E}">
        <p14:creationId xmlns:p14="http://schemas.microsoft.com/office/powerpoint/2010/main" val="1236097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491368" y="897243"/>
            <a:ext cx="4995029" cy="354330"/>
          </a:xfrm>
          <a:prstGeom prst="rect">
            <a:avLst/>
          </a:prstGeom>
          <a:noFill/>
          <a:ln/>
        </p:spPr>
        <p:txBody>
          <a:bodyPr wrap="none" lIns="0" tIns="0" rIns="0" bIns="0" rtlCol="0" anchor="t"/>
          <a:lstStyle/>
          <a:p>
            <a:pPr marL="0" indent="0" algn="l">
              <a:lnSpc>
                <a:spcPts val="2750"/>
              </a:lnSpc>
              <a:buNone/>
            </a:pPr>
            <a:r>
              <a:rPr lang="en-US" sz="2250" dirty="0">
                <a:solidFill>
                  <a:srgbClr val="1B1B27"/>
                </a:solidFill>
                <a:latin typeface="Times New Roman" panose="02020603050405020304" pitchFamily="18" charset="0"/>
                <a:ea typeface="Raleway" pitchFamily="34" charset="-122"/>
                <a:cs typeface="Times New Roman" panose="02020603050405020304" pitchFamily="18" charset="0"/>
              </a:rPr>
              <a:t>4.Video Annotation for Decision Support</a:t>
            </a:r>
            <a:endParaRPr lang="en-US" sz="2250" dirty="0">
              <a:latin typeface="Times New Roman" panose="02020603050405020304" pitchFamily="18" charset="0"/>
              <a:cs typeface="Times New Roman" panose="02020603050405020304" pitchFamily="18" charset="0"/>
            </a:endParaRPr>
          </a:p>
        </p:txBody>
      </p:sp>
      <p:sp>
        <p:nvSpPr>
          <p:cNvPr id="4" name="Text 1"/>
          <p:cNvSpPr/>
          <p:nvPr/>
        </p:nvSpPr>
        <p:spPr>
          <a:xfrm>
            <a:off x="491372" y="1465540"/>
            <a:ext cx="7556421" cy="362903"/>
          </a:xfrm>
          <a:prstGeom prst="rect">
            <a:avLst/>
          </a:prstGeom>
          <a:noFill/>
          <a:ln/>
        </p:spPr>
        <p:txBody>
          <a:bodyPr wrap="none" lIns="0" tIns="0" rIns="0" bIns="0" rtlCol="0" anchor="t"/>
          <a:lstStyle/>
          <a:p>
            <a:pPr marL="0" indent="0" algn="l">
              <a:lnSpc>
                <a:spcPts val="2850"/>
              </a:lnSpc>
              <a:buNone/>
            </a:pPr>
            <a:r>
              <a:rPr lang="en-US" dirty="0">
                <a:solidFill>
                  <a:srgbClr val="3C3939"/>
                </a:solidFill>
                <a:latin typeface="Times New Roman" panose="02020603050405020304" pitchFamily="18" charset="0"/>
                <a:ea typeface="Roboto" pitchFamily="34" charset="-122"/>
                <a:cs typeface="Times New Roman" panose="02020603050405020304" pitchFamily="18" charset="0"/>
              </a:rPr>
              <a:t>The output video is annotated with:</a:t>
            </a:r>
            <a:endParaRPr lang="en-US" dirty="0">
              <a:latin typeface="Times New Roman" panose="02020603050405020304" pitchFamily="18" charset="0"/>
              <a:cs typeface="Times New Roman" panose="02020603050405020304" pitchFamily="18" charset="0"/>
            </a:endParaRPr>
          </a:p>
        </p:txBody>
      </p:sp>
      <p:sp>
        <p:nvSpPr>
          <p:cNvPr id="5" name="Text 2"/>
          <p:cNvSpPr/>
          <p:nvPr/>
        </p:nvSpPr>
        <p:spPr>
          <a:xfrm>
            <a:off x="491371" y="1902141"/>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dirty="0">
                <a:solidFill>
                  <a:srgbClr val="3C3939"/>
                </a:solidFill>
                <a:latin typeface="Times New Roman" panose="02020603050405020304" pitchFamily="18" charset="0"/>
                <a:ea typeface="Roboto" pitchFamily="34" charset="-122"/>
                <a:cs typeface="Times New Roman" panose="02020603050405020304" pitchFamily="18" charset="0"/>
              </a:rPr>
              <a:t>Bounding boxes around detected persons</a:t>
            </a:r>
            <a:endParaRPr lang="en-US" dirty="0">
              <a:latin typeface="Times New Roman" panose="02020603050405020304" pitchFamily="18" charset="0"/>
              <a:cs typeface="Times New Roman" panose="02020603050405020304" pitchFamily="18" charset="0"/>
            </a:endParaRPr>
          </a:p>
        </p:txBody>
      </p:sp>
      <p:sp>
        <p:nvSpPr>
          <p:cNvPr id="6" name="Text 3"/>
          <p:cNvSpPr/>
          <p:nvPr/>
        </p:nvSpPr>
        <p:spPr>
          <a:xfrm>
            <a:off x="491372" y="2451972"/>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dirty="0">
                <a:solidFill>
                  <a:srgbClr val="3C3939"/>
                </a:solidFill>
                <a:latin typeface="Times New Roman" panose="02020603050405020304" pitchFamily="18" charset="0"/>
                <a:ea typeface="Roboto" pitchFamily="34" charset="-122"/>
                <a:cs typeface="Times New Roman" panose="02020603050405020304" pitchFamily="18" charset="0"/>
              </a:rPr>
              <a:t>Total people count per frame</a:t>
            </a:r>
            <a:endParaRPr lang="en-US" dirty="0">
              <a:latin typeface="Times New Roman" panose="02020603050405020304" pitchFamily="18" charset="0"/>
              <a:cs typeface="Times New Roman" panose="02020603050405020304" pitchFamily="18" charset="0"/>
            </a:endParaRPr>
          </a:p>
        </p:txBody>
      </p:sp>
      <p:sp>
        <p:nvSpPr>
          <p:cNvPr id="7" name="Text 4"/>
          <p:cNvSpPr/>
          <p:nvPr/>
        </p:nvSpPr>
        <p:spPr>
          <a:xfrm>
            <a:off x="491370" y="2911325"/>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dirty="0">
                <a:solidFill>
                  <a:srgbClr val="3C3939"/>
                </a:solidFill>
                <a:latin typeface="Times New Roman" panose="02020603050405020304" pitchFamily="18" charset="0"/>
                <a:ea typeface="Roboto" pitchFamily="34" charset="-122"/>
                <a:cs typeface="Times New Roman" panose="02020603050405020304" pitchFamily="18" charset="0"/>
              </a:rPr>
              <a:t>Crowd density classification label</a:t>
            </a:r>
            <a:endParaRPr lang="en-US" dirty="0">
              <a:latin typeface="Times New Roman" panose="02020603050405020304" pitchFamily="18" charset="0"/>
              <a:cs typeface="Times New Roman" panose="02020603050405020304" pitchFamily="18" charset="0"/>
            </a:endParaRPr>
          </a:p>
        </p:txBody>
      </p:sp>
      <p:sp>
        <p:nvSpPr>
          <p:cNvPr id="8" name="Text 5"/>
          <p:cNvSpPr/>
          <p:nvPr/>
        </p:nvSpPr>
        <p:spPr>
          <a:xfrm>
            <a:off x="491369" y="3393840"/>
            <a:ext cx="7556421" cy="725805"/>
          </a:xfrm>
          <a:prstGeom prst="rect">
            <a:avLst/>
          </a:prstGeom>
          <a:noFill/>
          <a:ln/>
        </p:spPr>
        <p:txBody>
          <a:bodyPr wrap="square" lIns="0" tIns="0" rIns="0" bIns="0" rtlCol="0" anchor="t"/>
          <a:lstStyle/>
          <a:p>
            <a:pPr marL="0" indent="0" algn="l">
              <a:lnSpc>
                <a:spcPts val="2850"/>
              </a:lnSpc>
              <a:buNone/>
            </a:pPr>
            <a:r>
              <a:rPr lang="en-US" dirty="0">
                <a:solidFill>
                  <a:srgbClr val="3C3939"/>
                </a:solidFill>
                <a:latin typeface="Times New Roman" panose="02020603050405020304" pitchFamily="18" charset="0"/>
                <a:ea typeface="Roboto" pitchFamily="34" charset="-122"/>
                <a:cs typeface="Times New Roman" panose="02020603050405020304" pitchFamily="18" charset="0"/>
              </a:rPr>
              <a:t>These annotations enhance visual interpretability and support real-time monitoring.</a:t>
            </a:r>
            <a:endParaRPr lang="en-US" dirty="0">
              <a:latin typeface="Times New Roman" panose="02020603050405020304" pitchFamily="18" charset="0"/>
              <a:cs typeface="Times New Roman" panose="02020603050405020304" pitchFamily="18" charset="0"/>
            </a:endParaRPr>
          </a:p>
        </p:txBody>
      </p:sp>
      <p:sp>
        <p:nvSpPr>
          <p:cNvPr id="9" name="Text 0"/>
          <p:cNvSpPr/>
          <p:nvPr/>
        </p:nvSpPr>
        <p:spPr>
          <a:xfrm>
            <a:off x="491372" y="4737070"/>
            <a:ext cx="5536525" cy="354330"/>
          </a:xfrm>
          <a:prstGeom prst="rect">
            <a:avLst/>
          </a:prstGeom>
          <a:noFill/>
          <a:ln/>
        </p:spPr>
        <p:txBody>
          <a:bodyPr wrap="none" lIns="0" tIns="0" rIns="0" bIns="0" rtlCol="0" anchor="t"/>
          <a:lstStyle/>
          <a:p>
            <a:pPr marL="0" indent="0" algn="l">
              <a:lnSpc>
                <a:spcPts val="2750"/>
              </a:lnSpc>
              <a:buNone/>
            </a:pPr>
            <a:r>
              <a:rPr lang="en-US" sz="2250" dirty="0">
                <a:solidFill>
                  <a:srgbClr val="1B1B27"/>
                </a:solidFill>
                <a:latin typeface="Times New Roman" panose="02020603050405020304" pitchFamily="18" charset="0"/>
                <a:ea typeface="Raleway" pitchFamily="34" charset="-122"/>
                <a:cs typeface="Times New Roman" panose="02020603050405020304" pitchFamily="18" charset="0"/>
              </a:rPr>
              <a:t>5.Proof-of-Concept Oriented System Design</a:t>
            </a:r>
            <a:endParaRPr lang="en-US" sz="2250" dirty="0">
              <a:latin typeface="Times New Roman" panose="02020603050405020304" pitchFamily="18" charset="0"/>
              <a:cs typeface="Times New Roman" panose="02020603050405020304" pitchFamily="18" charset="0"/>
            </a:endParaRPr>
          </a:p>
        </p:txBody>
      </p:sp>
      <p:sp>
        <p:nvSpPr>
          <p:cNvPr id="10" name="Text 1"/>
          <p:cNvSpPr/>
          <p:nvPr/>
        </p:nvSpPr>
        <p:spPr>
          <a:xfrm>
            <a:off x="491368" y="5335489"/>
            <a:ext cx="7556421" cy="1451610"/>
          </a:xfrm>
          <a:prstGeom prst="rect">
            <a:avLst/>
          </a:prstGeom>
          <a:noFill/>
          <a:ln/>
        </p:spPr>
        <p:txBody>
          <a:bodyPr wrap="square" lIns="0" tIns="0" rIns="0" bIns="0" rtlCol="0" anchor="t"/>
          <a:lstStyle/>
          <a:p>
            <a:pPr marL="0" indent="0" algn="l">
              <a:lnSpc>
                <a:spcPts val="2850"/>
              </a:lnSpc>
              <a:buNone/>
            </a:pPr>
            <a:r>
              <a:rPr lang="en-US" dirty="0">
                <a:solidFill>
                  <a:srgbClr val="3C3939"/>
                </a:solidFill>
                <a:latin typeface="Times New Roman" panose="02020603050405020304" pitchFamily="18" charset="0"/>
                <a:ea typeface="Roboto" pitchFamily="34" charset="-122"/>
                <a:cs typeface="Times New Roman" panose="02020603050405020304" pitchFamily="18" charset="0"/>
              </a:rPr>
              <a:t>The system primarily operates on recorded video inputs, enabling easier testing, debugging, and validation. This design approach ensures the feasibility and correctness of the proposed methodology before real-time deployment.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EDE78D-255A-D74B-1376-E6DF67AF104F}"/>
              </a:ext>
            </a:extLst>
          </p:cNvPr>
          <p:cNvPicPr>
            <a:picLocks noChangeAspect="1"/>
          </p:cNvPicPr>
          <p:nvPr/>
        </p:nvPicPr>
        <p:blipFill>
          <a:blip r:embed="rId2"/>
          <a:stretch>
            <a:fillRect/>
          </a:stretch>
        </p:blipFill>
        <p:spPr>
          <a:xfrm>
            <a:off x="0" y="1"/>
            <a:ext cx="14630400" cy="7603957"/>
          </a:xfrm>
          <a:prstGeom prst="rect">
            <a:avLst/>
          </a:prstGeom>
        </p:spPr>
      </p:pic>
    </p:spTree>
    <p:extLst>
      <p:ext uri="{BB962C8B-B14F-4D97-AF65-F5344CB8AC3E}">
        <p14:creationId xmlns:p14="http://schemas.microsoft.com/office/powerpoint/2010/main" val="1299293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2FC540-680B-6F09-F6EE-6FE699910164}"/>
              </a:ext>
            </a:extLst>
          </p:cNvPr>
          <p:cNvPicPr>
            <a:picLocks noChangeAspect="1"/>
          </p:cNvPicPr>
          <p:nvPr/>
        </p:nvPicPr>
        <p:blipFill>
          <a:blip r:embed="rId2"/>
          <a:stretch>
            <a:fillRect/>
          </a:stretch>
        </p:blipFill>
        <p:spPr>
          <a:xfrm>
            <a:off x="0" y="0"/>
            <a:ext cx="14630400" cy="7652084"/>
          </a:xfrm>
          <a:prstGeom prst="rect">
            <a:avLst/>
          </a:prstGeom>
        </p:spPr>
      </p:pic>
    </p:spTree>
    <p:extLst>
      <p:ext uri="{BB962C8B-B14F-4D97-AF65-F5344CB8AC3E}">
        <p14:creationId xmlns:p14="http://schemas.microsoft.com/office/powerpoint/2010/main" val="1106317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4EB9FF-81DB-1110-4AD9-3E193DAD3676}"/>
              </a:ext>
            </a:extLst>
          </p:cNvPr>
          <p:cNvPicPr>
            <a:picLocks noChangeAspect="1"/>
          </p:cNvPicPr>
          <p:nvPr/>
        </p:nvPicPr>
        <p:blipFill>
          <a:blip r:embed="rId2"/>
          <a:stretch>
            <a:fillRect/>
          </a:stretch>
        </p:blipFill>
        <p:spPr>
          <a:xfrm>
            <a:off x="0" y="0"/>
            <a:ext cx="14630400" cy="7820526"/>
          </a:xfrm>
          <a:prstGeom prst="rect">
            <a:avLst/>
          </a:prstGeom>
        </p:spPr>
      </p:pic>
    </p:spTree>
    <p:extLst>
      <p:ext uri="{BB962C8B-B14F-4D97-AF65-F5344CB8AC3E}">
        <p14:creationId xmlns:p14="http://schemas.microsoft.com/office/powerpoint/2010/main" val="2155109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51F532-A5E9-6EC7-6282-D556AF3B57BD}"/>
              </a:ext>
            </a:extLst>
          </p:cNvPr>
          <p:cNvPicPr>
            <a:picLocks noChangeAspect="1"/>
          </p:cNvPicPr>
          <p:nvPr/>
        </p:nvPicPr>
        <p:blipFill>
          <a:blip r:embed="rId2"/>
          <a:stretch>
            <a:fillRect/>
          </a:stretch>
        </p:blipFill>
        <p:spPr>
          <a:xfrm>
            <a:off x="0" y="-1"/>
            <a:ext cx="14630400" cy="7928811"/>
          </a:xfrm>
          <a:prstGeom prst="rect">
            <a:avLst/>
          </a:prstGeom>
        </p:spPr>
      </p:pic>
    </p:spTree>
    <p:extLst>
      <p:ext uri="{BB962C8B-B14F-4D97-AF65-F5344CB8AC3E}">
        <p14:creationId xmlns:p14="http://schemas.microsoft.com/office/powerpoint/2010/main" val="3680607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18354C-33D2-E85D-F58F-6A0051B08A83}"/>
              </a:ext>
            </a:extLst>
          </p:cNvPr>
          <p:cNvPicPr>
            <a:picLocks noChangeAspect="1"/>
          </p:cNvPicPr>
          <p:nvPr/>
        </p:nvPicPr>
        <p:blipFill>
          <a:blip r:embed="rId2"/>
          <a:stretch>
            <a:fillRect/>
          </a:stretch>
        </p:blipFill>
        <p:spPr>
          <a:xfrm>
            <a:off x="0" y="-24064"/>
            <a:ext cx="14630400" cy="8229600"/>
          </a:xfrm>
          <a:prstGeom prst="rect">
            <a:avLst/>
          </a:prstGeom>
        </p:spPr>
      </p:pic>
    </p:spTree>
    <p:extLst>
      <p:ext uri="{BB962C8B-B14F-4D97-AF65-F5344CB8AC3E}">
        <p14:creationId xmlns:p14="http://schemas.microsoft.com/office/powerpoint/2010/main" val="2239975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73320D-A3CB-6545-EECC-2A58EA3D3F3A}"/>
              </a:ext>
            </a:extLst>
          </p:cNvPr>
          <p:cNvSpPr txBox="1"/>
          <p:nvPr/>
        </p:nvSpPr>
        <p:spPr>
          <a:xfrm>
            <a:off x="512956" y="609511"/>
            <a:ext cx="7515922" cy="5262979"/>
          </a:xfrm>
          <a:prstGeom prst="rect">
            <a:avLst/>
          </a:prstGeom>
          <a:noFill/>
        </p:spPr>
        <p:txBody>
          <a:bodyPr wrap="square">
            <a:spAutoFit/>
          </a:bodyPr>
          <a:lstStyle/>
          <a:p>
            <a:pPr>
              <a:buNone/>
            </a:pPr>
            <a:r>
              <a:rPr lang="en-US" sz="4800" dirty="0">
                <a:latin typeface="Times New Roman" panose="02020603050405020304" pitchFamily="18" charset="0"/>
                <a:cs typeface="Times New Roman" panose="02020603050405020304" pitchFamily="18" charset="0"/>
              </a:rPr>
              <a:t>Conclusion</a:t>
            </a:r>
          </a:p>
          <a:p>
            <a:pPr>
              <a:buNone/>
            </a:pPr>
            <a:endParaRPr lang="en-US" b="1" dirty="0">
              <a:latin typeface="Times New Roman" panose="02020603050405020304" pitchFamily="18" charset="0"/>
              <a:cs typeface="Times New Roman" panose="02020603050405020304" pitchFamily="18" charset="0"/>
            </a:endParaRPr>
          </a:p>
          <a:p>
            <a:pPr>
              <a:buNone/>
            </a:pPr>
            <a:endParaRPr lang="en-US" b="1" dirty="0">
              <a:latin typeface="Times New Roman" panose="02020603050405020304" pitchFamily="18" charset="0"/>
              <a:cs typeface="Times New Roman" panose="02020603050405020304" pitchFamily="18" charset="0"/>
            </a:endParaRPr>
          </a:p>
          <a:p>
            <a:pPr>
              <a:buNone/>
            </a:pPr>
            <a:endParaRPr lang="en-US" b="1" dirty="0">
              <a:latin typeface="Times New Roman" panose="02020603050405020304" pitchFamily="18" charset="0"/>
              <a:cs typeface="Times New Roman" panose="02020603050405020304" pitchFamily="18" charset="0"/>
            </a:endParaRPr>
          </a:p>
          <a:p>
            <a:pPr>
              <a:buNone/>
            </a:pPr>
            <a:endParaRPr lang="en-US" b="1" dirty="0">
              <a:latin typeface="Times New Roman" panose="02020603050405020304" pitchFamily="18" charset="0"/>
              <a:cs typeface="Times New Roman" panose="02020603050405020304" pitchFamily="18" charset="0"/>
            </a:endParaRPr>
          </a:p>
          <a:p>
            <a:pPr>
              <a:buNone/>
            </a:pPr>
            <a:endParaRPr lang="en-US" b="1" dirty="0">
              <a:latin typeface="Times New Roman" panose="02020603050405020304" pitchFamily="18" charset="0"/>
              <a:cs typeface="Times New Roman" panose="02020603050405020304" pitchFamily="18" charset="0"/>
            </a:endParaRPr>
          </a:p>
          <a:p>
            <a:pPr>
              <a:buNone/>
            </a:pPr>
            <a:endParaRPr lang="en-US" b="1"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This project successfully demonstrates a video-based crowd estimation system using a YOLO-based person detection model. The system accurately detects individuals, performs frame-wise people counting, and classifies crowd density levels using rule-based thresholds. Experimental results indicate reliable performance under varying crowd and video conditions with efficient processing. The proposed approach is simple, scalable, and suitable for surveillance applications. In future, the system can be extended to real-time CCTV deployment and enhanced with advanced crowd analytics.</a:t>
            </a:r>
          </a:p>
        </p:txBody>
      </p:sp>
      <p:pic>
        <p:nvPicPr>
          <p:cNvPr id="5" name="Image 0">
            <a:extLst>
              <a:ext uri="{FF2B5EF4-FFF2-40B4-BE49-F238E27FC236}">
                <a16:creationId xmlns:a16="http://schemas.microsoft.com/office/drawing/2014/main" id="{B5D3C86C-66F8-0FB0-08AC-8FCD7AE9BC19}"/>
              </a:ext>
            </a:extLst>
          </p:cNvPr>
          <p:cNvPicPr>
            <a:picLocks noChangeAspect="1"/>
          </p:cNvPicPr>
          <p:nvPr/>
        </p:nvPicPr>
        <p:blipFill>
          <a:blip r:embed="rId2"/>
          <a:stretch>
            <a:fillRect/>
          </a:stretch>
        </p:blipFill>
        <p:spPr>
          <a:xfrm>
            <a:off x="9144000" y="0"/>
            <a:ext cx="5486400" cy="8229600"/>
          </a:xfrm>
          <a:prstGeom prst="rect">
            <a:avLst/>
          </a:prstGeom>
        </p:spPr>
      </p:pic>
    </p:spTree>
    <p:extLst>
      <p:ext uri="{BB962C8B-B14F-4D97-AF65-F5344CB8AC3E}">
        <p14:creationId xmlns:p14="http://schemas.microsoft.com/office/powerpoint/2010/main" val="3861595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487</Words>
  <Application>Microsoft Office PowerPoint</Application>
  <PresentationFormat>Custom</PresentationFormat>
  <Paragraphs>45</Paragraphs>
  <Slides>15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Calibri</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cp:lastModifiedBy>OJASKRISSHNAN S</cp:lastModifiedBy>
  <cp:revision>3</cp:revision>
  <dcterms:created xsi:type="dcterms:W3CDTF">2026-01-08T18:05:14Z</dcterms:created>
  <dcterms:modified xsi:type="dcterms:W3CDTF">2026-01-09T05:58:54Z</dcterms:modified>
</cp:coreProperties>
</file>